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18_54C731DB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5" r:id="rId3"/>
    <p:sldId id="266" r:id="rId4"/>
    <p:sldId id="267" r:id="rId5"/>
    <p:sldId id="269" r:id="rId6"/>
    <p:sldId id="271" r:id="rId7"/>
    <p:sldId id="273" r:id="rId8"/>
    <p:sldId id="272" r:id="rId9"/>
    <p:sldId id="274" r:id="rId10"/>
    <p:sldId id="276" r:id="rId11"/>
    <p:sldId id="277" r:id="rId12"/>
    <p:sldId id="278" r:id="rId13"/>
    <p:sldId id="279" r:id="rId14"/>
    <p:sldId id="280" r:id="rId15"/>
    <p:sldId id="281" r:id="rId16"/>
    <p:sldId id="287" r:id="rId17"/>
    <p:sldId id="282" r:id="rId18"/>
    <p:sldId id="283" r:id="rId19"/>
    <p:sldId id="288" r:id="rId20"/>
    <p:sldId id="286" r:id="rId21"/>
    <p:sldId id="289" r:id="rId22"/>
    <p:sldId id="29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05DD1D4-88F7-74E2-7C70-5EA57D7312A6}" name="Iqbal, Husna" initials="" userId="S::hiqbal1@vols.utk.edu::53688438-d637-43e2-bb37-b94a50aa9b0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12A0"/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49EBDE-700F-174A-81AB-FAA87019C78D}" v="31" dt="2024-11-18T21:45:36.2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5"/>
  </p:normalViewPr>
  <p:slideViewPr>
    <p:cSldViewPr snapToGrid="0">
      <p:cViewPr varScale="1">
        <p:scale>
          <a:sx n="105" d="100"/>
          <a:sy n="105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omments/modernComment_118_54C731D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3EAFCB-67C1-0746-AB59-57525E3D5D09}" authorId="{F05DD1D4-88F7-74E2-7C70-5EA57D7312A6}" status="resolved" created="2024-11-18T14:18:19.356" complete="100000">
    <pc:sldMkLst xmlns:pc="http://schemas.microsoft.com/office/powerpoint/2013/main/command">
      <pc:docMk/>
      <pc:sldMk cId="1422340571" sldId="280"/>
    </pc:sldMkLst>
    <p188:txBody>
      <a:bodyPr/>
      <a:lstStyle/>
      <a:p>
        <a:r>
          <a:rPr lang="en-US"/>
          <a:t>Ask
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11-18T21:53:56.070" authorId="{F05DD1D4-88F7-74E2-7C70-5EA57D7312A6}"/>
          </p223:rxn>
        </p223:reactions>
      </p:ext>
    </p188:extLst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99F1B5-343D-4ADB-AF62-0C2ABF3A661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4FF4BA7-3B29-46DF-8020-C6F447E5071E}">
      <dgm:prSet/>
      <dgm:spPr/>
      <dgm:t>
        <a:bodyPr/>
        <a:lstStyle/>
        <a:p>
          <a:pPr>
            <a:defRPr cap="all"/>
          </a:pPr>
          <a:r>
            <a:rPr lang="en-US" dirty="0"/>
            <a:t>Parent’s Level of Education </a:t>
          </a:r>
        </a:p>
      </dgm:t>
    </dgm:pt>
    <dgm:pt modelId="{88B61C89-F589-491C-9BE4-6C43E7F2DA34}" type="parTrans" cxnId="{C5078F33-D35F-420F-BBA7-624CF09CAA47}">
      <dgm:prSet/>
      <dgm:spPr/>
      <dgm:t>
        <a:bodyPr/>
        <a:lstStyle/>
        <a:p>
          <a:endParaRPr lang="en-US"/>
        </a:p>
      </dgm:t>
    </dgm:pt>
    <dgm:pt modelId="{35228D83-B63E-41B0-8115-F3C5ACB2F60B}" type="sibTrans" cxnId="{C5078F33-D35F-420F-BBA7-624CF09CAA47}">
      <dgm:prSet/>
      <dgm:spPr/>
      <dgm:t>
        <a:bodyPr/>
        <a:lstStyle/>
        <a:p>
          <a:endParaRPr lang="en-US"/>
        </a:p>
      </dgm:t>
    </dgm:pt>
    <dgm:pt modelId="{C2844CC9-5FD6-42D0-A1AC-7B7E4288DC62}">
      <dgm:prSet/>
      <dgm:spPr/>
      <dgm:t>
        <a:bodyPr/>
        <a:lstStyle/>
        <a:p>
          <a:pPr>
            <a:defRPr cap="all"/>
          </a:pPr>
          <a:r>
            <a:rPr lang="en-US"/>
            <a:t>Completion of a Test Prep Couse</a:t>
          </a:r>
        </a:p>
      </dgm:t>
    </dgm:pt>
    <dgm:pt modelId="{96BDEC13-C81B-4E38-A1BA-DDB64343A2AA}" type="parTrans" cxnId="{871BA792-F90B-42A1-A535-B1E7DE027592}">
      <dgm:prSet/>
      <dgm:spPr/>
      <dgm:t>
        <a:bodyPr/>
        <a:lstStyle/>
        <a:p>
          <a:endParaRPr lang="en-US"/>
        </a:p>
      </dgm:t>
    </dgm:pt>
    <dgm:pt modelId="{6A554372-E565-41E9-8F34-5122251B39D1}" type="sibTrans" cxnId="{871BA792-F90B-42A1-A535-B1E7DE027592}">
      <dgm:prSet/>
      <dgm:spPr/>
      <dgm:t>
        <a:bodyPr/>
        <a:lstStyle/>
        <a:p>
          <a:endParaRPr lang="en-US"/>
        </a:p>
      </dgm:t>
    </dgm:pt>
    <dgm:pt modelId="{C8404AC8-34AD-4FD7-9163-73865AEDEF7F}" type="pres">
      <dgm:prSet presAssocID="{9799F1B5-343D-4ADB-AF62-0C2ABF3A661A}" presName="root" presStyleCnt="0">
        <dgm:presLayoutVars>
          <dgm:dir/>
          <dgm:resizeHandles val="exact"/>
        </dgm:presLayoutVars>
      </dgm:prSet>
      <dgm:spPr/>
    </dgm:pt>
    <dgm:pt modelId="{D9EC2BD9-A564-434C-B7D3-4E05C8C863A3}" type="pres">
      <dgm:prSet presAssocID="{C4FF4BA7-3B29-46DF-8020-C6F447E5071E}" presName="compNode" presStyleCnt="0"/>
      <dgm:spPr/>
    </dgm:pt>
    <dgm:pt modelId="{F9B751B6-347F-4046-BB97-DDA09025F079}" type="pres">
      <dgm:prSet presAssocID="{C4FF4BA7-3B29-46DF-8020-C6F447E5071E}" presName="iconBgRect" presStyleLbl="bgShp" presStyleIdx="0" presStyleCnt="2"/>
      <dgm:spPr/>
    </dgm:pt>
    <dgm:pt modelId="{94F499A6-236F-409E-B617-13EE2ABE1DA1}" type="pres">
      <dgm:prSet presAssocID="{C4FF4BA7-3B29-46DF-8020-C6F447E5071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66350DC-AA07-4AF6-95BC-E05071FF0BB6}" type="pres">
      <dgm:prSet presAssocID="{C4FF4BA7-3B29-46DF-8020-C6F447E5071E}" presName="spaceRect" presStyleCnt="0"/>
      <dgm:spPr/>
    </dgm:pt>
    <dgm:pt modelId="{2D6D407E-9C29-4FC0-B5E8-3AC9DA977A44}" type="pres">
      <dgm:prSet presAssocID="{C4FF4BA7-3B29-46DF-8020-C6F447E5071E}" presName="textRect" presStyleLbl="revTx" presStyleIdx="0" presStyleCnt="2">
        <dgm:presLayoutVars>
          <dgm:chMax val="1"/>
          <dgm:chPref val="1"/>
        </dgm:presLayoutVars>
      </dgm:prSet>
      <dgm:spPr/>
    </dgm:pt>
    <dgm:pt modelId="{7D79CA07-E49A-4891-9CFA-E776A11C623A}" type="pres">
      <dgm:prSet presAssocID="{35228D83-B63E-41B0-8115-F3C5ACB2F60B}" presName="sibTrans" presStyleCnt="0"/>
      <dgm:spPr/>
    </dgm:pt>
    <dgm:pt modelId="{1D3E4BFE-57BA-4298-9393-EF5FE441A1CE}" type="pres">
      <dgm:prSet presAssocID="{C2844CC9-5FD6-42D0-A1AC-7B7E4288DC62}" presName="compNode" presStyleCnt="0"/>
      <dgm:spPr/>
    </dgm:pt>
    <dgm:pt modelId="{02E7075B-6205-4B0B-9F37-AA16084D6F1E}" type="pres">
      <dgm:prSet presAssocID="{C2844CC9-5FD6-42D0-A1AC-7B7E4288DC62}" presName="iconBgRect" presStyleLbl="bgShp" presStyleIdx="1" presStyleCnt="2"/>
      <dgm:spPr/>
    </dgm:pt>
    <dgm:pt modelId="{1CC96764-F350-4288-80D5-8EE91E072CA3}" type="pres">
      <dgm:prSet presAssocID="{C2844CC9-5FD6-42D0-A1AC-7B7E4288DC6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F5424E7-290E-44E3-8557-B69E55EA8A12}" type="pres">
      <dgm:prSet presAssocID="{C2844CC9-5FD6-42D0-A1AC-7B7E4288DC62}" presName="spaceRect" presStyleCnt="0"/>
      <dgm:spPr/>
    </dgm:pt>
    <dgm:pt modelId="{C9376DD4-3CE0-4ECE-8AD4-3837895DCEA4}" type="pres">
      <dgm:prSet presAssocID="{C2844CC9-5FD6-42D0-A1AC-7B7E4288DC6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5078F33-D35F-420F-BBA7-624CF09CAA47}" srcId="{9799F1B5-343D-4ADB-AF62-0C2ABF3A661A}" destId="{C4FF4BA7-3B29-46DF-8020-C6F447E5071E}" srcOrd="0" destOrd="0" parTransId="{88B61C89-F589-491C-9BE4-6C43E7F2DA34}" sibTransId="{35228D83-B63E-41B0-8115-F3C5ACB2F60B}"/>
    <dgm:cxn modelId="{09C4B244-3D55-4BC2-A27E-CFD337288B6D}" type="presOf" srcId="{9799F1B5-343D-4ADB-AF62-0C2ABF3A661A}" destId="{C8404AC8-34AD-4FD7-9163-73865AEDEF7F}" srcOrd="0" destOrd="0" presId="urn:microsoft.com/office/officeart/2018/5/layout/IconCircleLabelList"/>
    <dgm:cxn modelId="{871BA792-F90B-42A1-A535-B1E7DE027592}" srcId="{9799F1B5-343D-4ADB-AF62-0C2ABF3A661A}" destId="{C2844CC9-5FD6-42D0-A1AC-7B7E4288DC62}" srcOrd="1" destOrd="0" parTransId="{96BDEC13-C81B-4E38-A1BA-DDB64343A2AA}" sibTransId="{6A554372-E565-41E9-8F34-5122251B39D1}"/>
    <dgm:cxn modelId="{8231DAE2-3B00-4410-9B6E-43F197F1EB91}" type="presOf" srcId="{C4FF4BA7-3B29-46DF-8020-C6F447E5071E}" destId="{2D6D407E-9C29-4FC0-B5E8-3AC9DA977A44}" srcOrd="0" destOrd="0" presId="urn:microsoft.com/office/officeart/2018/5/layout/IconCircleLabelList"/>
    <dgm:cxn modelId="{244869EF-BDF7-4B25-8D60-6BD2B9CE1103}" type="presOf" srcId="{C2844CC9-5FD6-42D0-A1AC-7B7E4288DC62}" destId="{C9376DD4-3CE0-4ECE-8AD4-3837895DCEA4}" srcOrd="0" destOrd="0" presId="urn:microsoft.com/office/officeart/2018/5/layout/IconCircleLabelList"/>
    <dgm:cxn modelId="{8F960F81-5372-4788-9E50-7B3A5DFD25B0}" type="presParOf" srcId="{C8404AC8-34AD-4FD7-9163-73865AEDEF7F}" destId="{D9EC2BD9-A564-434C-B7D3-4E05C8C863A3}" srcOrd="0" destOrd="0" presId="urn:microsoft.com/office/officeart/2018/5/layout/IconCircleLabelList"/>
    <dgm:cxn modelId="{BF22AACF-1396-4BD4-9FDC-470D040F1A4D}" type="presParOf" srcId="{D9EC2BD9-A564-434C-B7D3-4E05C8C863A3}" destId="{F9B751B6-347F-4046-BB97-DDA09025F079}" srcOrd="0" destOrd="0" presId="urn:microsoft.com/office/officeart/2018/5/layout/IconCircleLabelList"/>
    <dgm:cxn modelId="{246C7D6D-ACAB-440C-AD34-A64BE2A43021}" type="presParOf" srcId="{D9EC2BD9-A564-434C-B7D3-4E05C8C863A3}" destId="{94F499A6-236F-409E-B617-13EE2ABE1DA1}" srcOrd="1" destOrd="0" presId="urn:microsoft.com/office/officeart/2018/5/layout/IconCircleLabelList"/>
    <dgm:cxn modelId="{F5F919EA-C6A4-4877-B661-907301D9A422}" type="presParOf" srcId="{D9EC2BD9-A564-434C-B7D3-4E05C8C863A3}" destId="{966350DC-AA07-4AF6-95BC-E05071FF0BB6}" srcOrd="2" destOrd="0" presId="urn:microsoft.com/office/officeart/2018/5/layout/IconCircleLabelList"/>
    <dgm:cxn modelId="{166A3A6C-B223-4D92-A32F-0FF246F3CEC3}" type="presParOf" srcId="{D9EC2BD9-A564-434C-B7D3-4E05C8C863A3}" destId="{2D6D407E-9C29-4FC0-B5E8-3AC9DA977A44}" srcOrd="3" destOrd="0" presId="urn:microsoft.com/office/officeart/2018/5/layout/IconCircleLabelList"/>
    <dgm:cxn modelId="{D8BD74FD-D9BC-4BAC-AD35-27EDDE50C869}" type="presParOf" srcId="{C8404AC8-34AD-4FD7-9163-73865AEDEF7F}" destId="{7D79CA07-E49A-4891-9CFA-E776A11C623A}" srcOrd="1" destOrd="0" presId="urn:microsoft.com/office/officeart/2018/5/layout/IconCircleLabelList"/>
    <dgm:cxn modelId="{4865D50F-7AE2-4E78-9982-01D3DB1FC731}" type="presParOf" srcId="{C8404AC8-34AD-4FD7-9163-73865AEDEF7F}" destId="{1D3E4BFE-57BA-4298-9393-EF5FE441A1CE}" srcOrd="2" destOrd="0" presId="urn:microsoft.com/office/officeart/2018/5/layout/IconCircleLabelList"/>
    <dgm:cxn modelId="{1AF4A68D-0AA0-49D6-8632-248F18B4AA0E}" type="presParOf" srcId="{1D3E4BFE-57BA-4298-9393-EF5FE441A1CE}" destId="{02E7075B-6205-4B0B-9F37-AA16084D6F1E}" srcOrd="0" destOrd="0" presId="urn:microsoft.com/office/officeart/2018/5/layout/IconCircleLabelList"/>
    <dgm:cxn modelId="{D7B21780-FBAD-4735-9685-B65CE9B445AF}" type="presParOf" srcId="{1D3E4BFE-57BA-4298-9393-EF5FE441A1CE}" destId="{1CC96764-F350-4288-80D5-8EE91E072CA3}" srcOrd="1" destOrd="0" presId="urn:microsoft.com/office/officeart/2018/5/layout/IconCircleLabelList"/>
    <dgm:cxn modelId="{70463172-4BDF-41BD-AC01-DE9823EC67AD}" type="presParOf" srcId="{1D3E4BFE-57BA-4298-9393-EF5FE441A1CE}" destId="{AF5424E7-290E-44E3-8557-B69E55EA8A12}" srcOrd="2" destOrd="0" presId="urn:microsoft.com/office/officeart/2018/5/layout/IconCircleLabelList"/>
    <dgm:cxn modelId="{4C476BBF-43C4-479B-9151-5E85E415D284}" type="presParOf" srcId="{1D3E4BFE-57BA-4298-9393-EF5FE441A1CE}" destId="{C9376DD4-3CE0-4ECE-8AD4-3837895DCEA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F72471-3FC3-5F4A-A611-809438C0774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EAFBD5-8307-5A41-85FD-4F41C5A502A9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Have data</a:t>
          </a:r>
        </a:p>
      </dgm:t>
    </dgm:pt>
    <dgm:pt modelId="{DDC42E02-79BA-1B41-98D3-1DD59508BDF6}" type="parTrans" cxnId="{F8851449-894F-6A46-8C3A-FC4850376DD2}">
      <dgm:prSet/>
      <dgm:spPr/>
      <dgm:t>
        <a:bodyPr/>
        <a:lstStyle/>
        <a:p>
          <a:endParaRPr lang="en-US"/>
        </a:p>
      </dgm:t>
    </dgm:pt>
    <dgm:pt modelId="{6A6D956B-27A1-4C47-AE94-6B71CFB08771}" type="sibTrans" cxnId="{F8851449-894F-6A46-8C3A-FC4850376DD2}">
      <dgm:prSet/>
      <dgm:spPr/>
      <dgm:t>
        <a:bodyPr/>
        <a:lstStyle/>
        <a:p>
          <a:endParaRPr lang="en-US"/>
        </a:p>
      </dgm:t>
    </dgm:pt>
    <dgm:pt modelId="{5D3E1E0D-D7ED-8645-B4CC-8373A669C0D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Trees make decisions on random subsets of data</a:t>
          </a:r>
        </a:p>
      </dgm:t>
    </dgm:pt>
    <dgm:pt modelId="{815D0CF7-D4D5-3341-97AD-EB5D2E85DB5C}" type="parTrans" cxnId="{2706D1A1-B589-FA48-B75D-A05BC77F97D4}">
      <dgm:prSet/>
      <dgm:spPr/>
      <dgm:t>
        <a:bodyPr/>
        <a:lstStyle/>
        <a:p>
          <a:endParaRPr lang="en-US"/>
        </a:p>
      </dgm:t>
    </dgm:pt>
    <dgm:pt modelId="{7CE6EE80-60B4-6F4D-9294-B8C7D51D0CA9}" type="sibTrans" cxnId="{2706D1A1-B589-FA48-B75D-A05BC77F97D4}">
      <dgm:prSet/>
      <dgm:spPr/>
      <dgm:t>
        <a:bodyPr/>
        <a:lstStyle/>
        <a:p>
          <a:endParaRPr lang="en-US"/>
        </a:p>
      </dgm:t>
    </dgm:pt>
    <dgm:pt modelId="{C61FF274-F25C-9942-A690-CC95CD89FB17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Trees</a:t>
          </a:r>
          <a:r>
            <a:rPr lang="en-US" baseline="0" dirty="0"/>
            <a:t> vote in their decision</a:t>
          </a:r>
          <a:endParaRPr lang="en-US" dirty="0"/>
        </a:p>
      </dgm:t>
    </dgm:pt>
    <dgm:pt modelId="{40B72DFB-DFDF-0D40-B8CC-EE21281BA9C0}" type="parTrans" cxnId="{CAC026AD-8871-D847-9772-29F5664CA4C5}">
      <dgm:prSet/>
      <dgm:spPr/>
      <dgm:t>
        <a:bodyPr/>
        <a:lstStyle/>
        <a:p>
          <a:endParaRPr lang="en-US"/>
        </a:p>
      </dgm:t>
    </dgm:pt>
    <dgm:pt modelId="{581F5356-7AFC-774B-ADD6-02D94512E97A}" type="sibTrans" cxnId="{CAC026AD-8871-D847-9772-29F5664CA4C5}">
      <dgm:prSet/>
      <dgm:spPr/>
      <dgm:t>
        <a:bodyPr/>
        <a:lstStyle/>
        <a:p>
          <a:endParaRPr lang="en-US"/>
        </a:p>
      </dgm:t>
    </dgm:pt>
    <dgm:pt modelId="{14350BD5-CFAE-004B-A12E-111386599096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Majority wins</a:t>
          </a:r>
        </a:p>
      </dgm:t>
    </dgm:pt>
    <dgm:pt modelId="{DAEF3ACC-57A3-0648-AF78-5421129D7A05}" type="parTrans" cxnId="{7D9EBDCE-1D8F-B74E-B258-12B231B17C90}">
      <dgm:prSet/>
      <dgm:spPr/>
      <dgm:t>
        <a:bodyPr/>
        <a:lstStyle/>
        <a:p>
          <a:endParaRPr lang="en-US"/>
        </a:p>
      </dgm:t>
    </dgm:pt>
    <dgm:pt modelId="{309473EC-60EA-FD40-8A0B-A7774BFA3054}" type="sibTrans" cxnId="{7D9EBDCE-1D8F-B74E-B258-12B231B17C90}">
      <dgm:prSet/>
      <dgm:spPr/>
      <dgm:t>
        <a:bodyPr/>
        <a:lstStyle/>
        <a:p>
          <a:endParaRPr lang="en-US"/>
        </a:p>
      </dgm:t>
    </dgm:pt>
    <dgm:pt modelId="{D788EB2E-5A23-6B40-A20B-1ADEE5B527D8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Final Prediction</a:t>
          </a:r>
        </a:p>
      </dgm:t>
    </dgm:pt>
    <dgm:pt modelId="{5454F151-38DD-5947-8AD7-E9D59285DA71}" type="parTrans" cxnId="{531C956C-5659-8541-9EE2-7011E70A11DE}">
      <dgm:prSet/>
      <dgm:spPr/>
      <dgm:t>
        <a:bodyPr/>
        <a:lstStyle/>
        <a:p>
          <a:endParaRPr lang="en-US"/>
        </a:p>
      </dgm:t>
    </dgm:pt>
    <dgm:pt modelId="{3DC8A073-5562-2649-B100-DE732FBC5AFB}" type="sibTrans" cxnId="{531C956C-5659-8541-9EE2-7011E70A11DE}">
      <dgm:prSet/>
      <dgm:spPr/>
      <dgm:t>
        <a:bodyPr/>
        <a:lstStyle/>
        <a:p>
          <a:endParaRPr lang="en-US"/>
        </a:p>
      </dgm:t>
    </dgm:pt>
    <dgm:pt modelId="{6FC501B7-0802-40CA-80D4-E21CB34EFFF2}" type="pres">
      <dgm:prSet presAssocID="{8EF72471-3FC3-5F4A-A611-809438C0774A}" presName="root" presStyleCnt="0">
        <dgm:presLayoutVars>
          <dgm:dir/>
          <dgm:resizeHandles val="exact"/>
        </dgm:presLayoutVars>
      </dgm:prSet>
      <dgm:spPr/>
    </dgm:pt>
    <dgm:pt modelId="{F2DF1F27-D91B-4312-B040-25B9D6970AE6}" type="pres">
      <dgm:prSet presAssocID="{5DEAFBD5-8307-5A41-85FD-4F41C5A502A9}" presName="compNode" presStyleCnt="0"/>
      <dgm:spPr/>
    </dgm:pt>
    <dgm:pt modelId="{5CBD373C-1EB3-4B79-8B37-C4F4DF9DE1DD}" type="pres">
      <dgm:prSet presAssocID="{5DEAFBD5-8307-5A41-85FD-4F41C5A502A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84E06DF-EAD8-41D9-9965-B7A10E04D488}" type="pres">
      <dgm:prSet presAssocID="{5DEAFBD5-8307-5A41-85FD-4F41C5A502A9}" presName="spaceRect" presStyleCnt="0"/>
      <dgm:spPr/>
    </dgm:pt>
    <dgm:pt modelId="{5CEE93BA-0769-4FF0-BBB0-68F86260BF5A}" type="pres">
      <dgm:prSet presAssocID="{5DEAFBD5-8307-5A41-85FD-4F41C5A502A9}" presName="textRect" presStyleLbl="revTx" presStyleIdx="0" presStyleCnt="5">
        <dgm:presLayoutVars>
          <dgm:chMax val="1"/>
          <dgm:chPref val="1"/>
        </dgm:presLayoutVars>
      </dgm:prSet>
      <dgm:spPr/>
    </dgm:pt>
    <dgm:pt modelId="{9BFF6D34-7855-4430-B758-A1775DF9B07C}" type="pres">
      <dgm:prSet presAssocID="{6A6D956B-27A1-4C47-AE94-6B71CFB08771}" presName="sibTrans" presStyleCnt="0"/>
      <dgm:spPr/>
    </dgm:pt>
    <dgm:pt modelId="{5CB94EF6-CAAD-4F70-9DC8-9094980B6739}" type="pres">
      <dgm:prSet presAssocID="{5D3E1E0D-D7ED-8645-B4CC-8373A669C0DE}" presName="compNode" presStyleCnt="0"/>
      <dgm:spPr/>
    </dgm:pt>
    <dgm:pt modelId="{66E8BD58-CC70-4262-88B5-CD1C2B32FAD0}" type="pres">
      <dgm:prSet presAssocID="{5D3E1E0D-D7ED-8645-B4CC-8373A669C0D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1831D3FF-6D74-46F9-9BCB-8E340F6E9DFF}" type="pres">
      <dgm:prSet presAssocID="{5D3E1E0D-D7ED-8645-B4CC-8373A669C0DE}" presName="spaceRect" presStyleCnt="0"/>
      <dgm:spPr/>
    </dgm:pt>
    <dgm:pt modelId="{13F22D14-A473-4479-B3AC-7577CC30D91C}" type="pres">
      <dgm:prSet presAssocID="{5D3E1E0D-D7ED-8645-B4CC-8373A669C0DE}" presName="textRect" presStyleLbl="revTx" presStyleIdx="1" presStyleCnt="5">
        <dgm:presLayoutVars>
          <dgm:chMax val="1"/>
          <dgm:chPref val="1"/>
        </dgm:presLayoutVars>
      </dgm:prSet>
      <dgm:spPr/>
    </dgm:pt>
    <dgm:pt modelId="{A9837D21-2286-43BC-89C7-3E18241B3DE4}" type="pres">
      <dgm:prSet presAssocID="{7CE6EE80-60B4-6F4D-9294-B8C7D51D0CA9}" presName="sibTrans" presStyleCnt="0"/>
      <dgm:spPr/>
    </dgm:pt>
    <dgm:pt modelId="{87CB1235-9214-4204-854B-47E862ABD709}" type="pres">
      <dgm:prSet presAssocID="{C61FF274-F25C-9942-A690-CC95CD89FB17}" presName="compNode" presStyleCnt="0"/>
      <dgm:spPr/>
    </dgm:pt>
    <dgm:pt modelId="{C6D6C84B-4460-4E2A-BE6C-6145BB7ED79C}" type="pres">
      <dgm:prSet presAssocID="{C61FF274-F25C-9942-A690-CC95CD89FB1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28FB549C-8F85-45A7-93BC-FD6806FD39DC}" type="pres">
      <dgm:prSet presAssocID="{C61FF274-F25C-9942-A690-CC95CD89FB17}" presName="spaceRect" presStyleCnt="0"/>
      <dgm:spPr/>
    </dgm:pt>
    <dgm:pt modelId="{1C0BABD8-1373-40C3-8DBD-390C2415B23C}" type="pres">
      <dgm:prSet presAssocID="{C61FF274-F25C-9942-A690-CC95CD89FB17}" presName="textRect" presStyleLbl="revTx" presStyleIdx="2" presStyleCnt="5">
        <dgm:presLayoutVars>
          <dgm:chMax val="1"/>
          <dgm:chPref val="1"/>
        </dgm:presLayoutVars>
      </dgm:prSet>
      <dgm:spPr/>
    </dgm:pt>
    <dgm:pt modelId="{35F17276-4124-4D2A-80CA-C6A28974B001}" type="pres">
      <dgm:prSet presAssocID="{581F5356-7AFC-774B-ADD6-02D94512E97A}" presName="sibTrans" presStyleCnt="0"/>
      <dgm:spPr/>
    </dgm:pt>
    <dgm:pt modelId="{49ACA208-0F8B-4784-B6A5-82C0DA823FE5}" type="pres">
      <dgm:prSet presAssocID="{14350BD5-CFAE-004B-A12E-111386599096}" presName="compNode" presStyleCnt="0"/>
      <dgm:spPr/>
    </dgm:pt>
    <dgm:pt modelId="{9DBBF0E6-EB4A-4FBF-B1CB-A6237B82E5F1}" type="pres">
      <dgm:prSet presAssocID="{14350BD5-CFAE-004B-A12E-11138659909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AAE71AE7-8376-42C0-85DF-8003DEC544DC}" type="pres">
      <dgm:prSet presAssocID="{14350BD5-CFAE-004B-A12E-111386599096}" presName="spaceRect" presStyleCnt="0"/>
      <dgm:spPr/>
    </dgm:pt>
    <dgm:pt modelId="{1A76DB10-10EB-40B3-A515-19ACCBE6C896}" type="pres">
      <dgm:prSet presAssocID="{14350BD5-CFAE-004B-A12E-111386599096}" presName="textRect" presStyleLbl="revTx" presStyleIdx="3" presStyleCnt="5">
        <dgm:presLayoutVars>
          <dgm:chMax val="1"/>
          <dgm:chPref val="1"/>
        </dgm:presLayoutVars>
      </dgm:prSet>
      <dgm:spPr/>
    </dgm:pt>
    <dgm:pt modelId="{C5159EC4-0B79-479B-ACAB-E16AD1DA4B1B}" type="pres">
      <dgm:prSet presAssocID="{309473EC-60EA-FD40-8A0B-A7774BFA3054}" presName="sibTrans" presStyleCnt="0"/>
      <dgm:spPr/>
    </dgm:pt>
    <dgm:pt modelId="{87AD08A5-8CDF-45F2-868E-213585392FD2}" type="pres">
      <dgm:prSet presAssocID="{D788EB2E-5A23-6B40-A20B-1ADEE5B527D8}" presName="compNode" presStyleCnt="0"/>
      <dgm:spPr/>
    </dgm:pt>
    <dgm:pt modelId="{A0989BF1-9906-4468-9FF2-DD6746BEEC65}" type="pres">
      <dgm:prSet presAssocID="{D788EB2E-5A23-6B40-A20B-1ADEE5B527D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A63BF95-E77E-41F7-9BC8-4C24CF7B13CD}" type="pres">
      <dgm:prSet presAssocID="{D788EB2E-5A23-6B40-A20B-1ADEE5B527D8}" presName="spaceRect" presStyleCnt="0"/>
      <dgm:spPr/>
    </dgm:pt>
    <dgm:pt modelId="{8626803D-6807-4806-8C1E-4F4BA163B26B}" type="pres">
      <dgm:prSet presAssocID="{D788EB2E-5A23-6B40-A20B-1ADEE5B527D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D91FD29-8F00-8B4C-BD32-2B05AD1F94F6}" type="presOf" srcId="{5DEAFBD5-8307-5A41-85FD-4F41C5A502A9}" destId="{5CEE93BA-0769-4FF0-BBB0-68F86260BF5A}" srcOrd="0" destOrd="0" presId="urn:microsoft.com/office/officeart/2018/2/layout/IconLabelList"/>
    <dgm:cxn modelId="{F8851449-894F-6A46-8C3A-FC4850376DD2}" srcId="{8EF72471-3FC3-5F4A-A611-809438C0774A}" destId="{5DEAFBD5-8307-5A41-85FD-4F41C5A502A9}" srcOrd="0" destOrd="0" parTransId="{DDC42E02-79BA-1B41-98D3-1DD59508BDF6}" sibTransId="{6A6D956B-27A1-4C47-AE94-6B71CFB08771}"/>
    <dgm:cxn modelId="{531C956C-5659-8541-9EE2-7011E70A11DE}" srcId="{8EF72471-3FC3-5F4A-A611-809438C0774A}" destId="{D788EB2E-5A23-6B40-A20B-1ADEE5B527D8}" srcOrd="4" destOrd="0" parTransId="{5454F151-38DD-5947-8AD7-E9D59285DA71}" sibTransId="{3DC8A073-5562-2649-B100-DE732FBC5AFB}"/>
    <dgm:cxn modelId="{6A49AF8C-8537-F14D-9ED0-8A174C708FF9}" type="presOf" srcId="{8EF72471-3FC3-5F4A-A611-809438C0774A}" destId="{6FC501B7-0802-40CA-80D4-E21CB34EFFF2}" srcOrd="0" destOrd="0" presId="urn:microsoft.com/office/officeart/2018/2/layout/IconLabelList"/>
    <dgm:cxn modelId="{9304B68C-DE04-C14A-A3E2-F2890EA6F326}" type="presOf" srcId="{D788EB2E-5A23-6B40-A20B-1ADEE5B527D8}" destId="{8626803D-6807-4806-8C1E-4F4BA163B26B}" srcOrd="0" destOrd="0" presId="urn:microsoft.com/office/officeart/2018/2/layout/IconLabelList"/>
    <dgm:cxn modelId="{67A62A9A-0A87-0E47-97F4-93EB98077084}" type="presOf" srcId="{14350BD5-CFAE-004B-A12E-111386599096}" destId="{1A76DB10-10EB-40B3-A515-19ACCBE6C896}" srcOrd="0" destOrd="0" presId="urn:microsoft.com/office/officeart/2018/2/layout/IconLabelList"/>
    <dgm:cxn modelId="{2706D1A1-B589-FA48-B75D-A05BC77F97D4}" srcId="{8EF72471-3FC3-5F4A-A611-809438C0774A}" destId="{5D3E1E0D-D7ED-8645-B4CC-8373A669C0DE}" srcOrd="1" destOrd="0" parTransId="{815D0CF7-D4D5-3341-97AD-EB5D2E85DB5C}" sibTransId="{7CE6EE80-60B4-6F4D-9294-B8C7D51D0CA9}"/>
    <dgm:cxn modelId="{CAC026AD-8871-D847-9772-29F5664CA4C5}" srcId="{8EF72471-3FC3-5F4A-A611-809438C0774A}" destId="{C61FF274-F25C-9942-A690-CC95CD89FB17}" srcOrd="2" destOrd="0" parTransId="{40B72DFB-DFDF-0D40-B8CC-EE21281BA9C0}" sibTransId="{581F5356-7AFC-774B-ADD6-02D94512E97A}"/>
    <dgm:cxn modelId="{7D9EBDCE-1D8F-B74E-B258-12B231B17C90}" srcId="{8EF72471-3FC3-5F4A-A611-809438C0774A}" destId="{14350BD5-CFAE-004B-A12E-111386599096}" srcOrd="3" destOrd="0" parTransId="{DAEF3ACC-57A3-0648-AF78-5421129D7A05}" sibTransId="{309473EC-60EA-FD40-8A0B-A7774BFA3054}"/>
    <dgm:cxn modelId="{1BDDCDD4-206B-7241-84C1-91CCBBF39971}" type="presOf" srcId="{C61FF274-F25C-9942-A690-CC95CD89FB17}" destId="{1C0BABD8-1373-40C3-8DBD-390C2415B23C}" srcOrd="0" destOrd="0" presId="urn:microsoft.com/office/officeart/2018/2/layout/IconLabelList"/>
    <dgm:cxn modelId="{3F57F0F3-64CD-1147-A65E-3855E77211E9}" type="presOf" srcId="{5D3E1E0D-D7ED-8645-B4CC-8373A669C0DE}" destId="{13F22D14-A473-4479-B3AC-7577CC30D91C}" srcOrd="0" destOrd="0" presId="urn:microsoft.com/office/officeart/2018/2/layout/IconLabelList"/>
    <dgm:cxn modelId="{7CDE5A90-82BA-3B42-B307-5B7B0D013C1E}" type="presParOf" srcId="{6FC501B7-0802-40CA-80D4-E21CB34EFFF2}" destId="{F2DF1F27-D91B-4312-B040-25B9D6970AE6}" srcOrd="0" destOrd="0" presId="urn:microsoft.com/office/officeart/2018/2/layout/IconLabelList"/>
    <dgm:cxn modelId="{E76452FB-59E5-F344-BDEA-B8636D9B44A1}" type="presParOf" srcId="{F2DF1F27-D91B-4312-B040-25B9D6970AE6}" destId="{5CBD373C-1EB3-4B79-8B37-C4F4DF9DE1DD}" srcOrd="0" destOrd="0" presId="urn:microsoft.com/office/officeart/2018/2/layout/IconLabelList"/>
    <dgm:cxn modelId="{1B57E8E6-3F8A-9542-9DA4-8FBDEB00E6DA}" type="presParOf" srcId="{F2DF1F27-D91B-4312-B040-25B9D6970AE6}" destId="{284E06DF-EAD8-41D9-9965-B7A10E04D488}" srcOrd="1" destOrd="0" presId="urn:microsoft.com/office/officeart/2018/2/layout/IconLabelList"/>
    <dgm:cxn modelId="{98C9DCD9-1F5E-5546-9CC7-7C494F1E245D}" type="presParOf" srcId="{F2DF1F27-D91B-4312-B040-25B9D6970AE6}" destId="{5CEE93BA-0769-4FF0-BBB0-68F86260BF5A}" srcOrd="2" destOrd="0" presId="urn:microsoft.com/office/officeart/2018/2/layout/IconLabelList"/>
    <dgm:cxn modelId="{0E5CA3EE-3831-E144-ADBA-3B401D9867CE}" type="presParOf" srcId="{6FC501B7-0802-40CA-80D4-E21CB34EFFF2}" destId="{9BFF6D34-7855-4430-B758-A1775DF9B07C}" srcOrd="1" destOrd="0" presId="urn:microsoft.com/office/officeart/2018/2/layout/IconLabelList"/>
    <dgm:cxn modelId="{B5216889-3912-3F42-BD5D-4C7019356FF4}" type="presParOf" srcId="{6FC501B7-0802-40CA-80D4-E21CB34EFFF2}" destId="{5CB94EF6-CAAD-4F70-9DC8-9094980B6739}" srcOrd="2" destOrd="0" presId="urn:microsoft.com/office/officeart/2018/2/layout/IconLabelList"/>
    <dgm:cxn modelId="{0C4710FB-C938-3F48-A51C-DA0CF5CD933A}" type="presParOf" srcId="{5CB94EF6-CAAD-4F70-9DC8-9094980B6739}" destId="{66E8BD58-CC70-4262-88B5-CD1C2B32FAD0}" srcOrd="0" destOrd="0" presId="urn:microsoft.com/office/officeart/2018/2/layout/IconLabelList"/>
    <dgm:cxn modelId="{645FB427-23CC-DB44-B4B0-65870D4BB53E}" type="presParOf" srcId="{5CB94EF6-CAAD-4F70-9DC8-9094980B6739}" destId="{1831D3FF-6D74-46F9-9BCB-8E340F6E9DFF}" srcOrd="1" destOrd="0" presId="urn:microsoft.com/office/officeart/2018/2/layout/IconLabelList"/>
    <dgm:cxn modelId="{A24CD763-9A9F-E140-B76F-B5C128EF3F6B}" type="presParOf" srcId="{5CB94EF6-CAAD-4F70-9DC8-9094980B6739}" destId="{13F22D14-A473-4479-B3AC-7577CC30D91C}" srcOrd="2" destOrd="0" presId="urn:microsoft.com/office/officeart/2018/2/layout/IconLabelList"/>
    <dgm:cxn modelId="{62F90604-B247-EE49-989B-DEBD93475C27}" type="presParOf" srcId="{6FC501B7-0802-40CA-80D4-E21CB34EFFF2}" destId="{A9837D21-2286-43BC-89C7-3E18241B3DE4}" srcOrd="3" destOrd="0" presId="urn:microsoft.com/office/officeart/2018/2/layout/IconLabelList"/>
    <dgm:cxn modelId="{EA9F16B4-9F46-C347-8C9A-237ADD4120B1}" type="presParOf" srcId="{6FC501B7-0802-40CA-80D4-E21CB34EFFF2}" destId="{87CB1235-9214-4204-854B-47E862ABD709}" srcOrd="4" destOrd="0" presId="urn:microsoft.com/office/officeart/2018/2/layout/IconLabelList"/>
    <dgm:cxn modelId="{20A8F3C1-3B8D-4440-BAD5-5CB0DAFAAFED}" type="presParOf" srcId="{87CB1235-9214-4204-854B-47E862ABD709}" destId="{C6D6C84B-4460-4E2A-BE6C-6145BB7ED79C}" srcOrd="0" destOrd="0" presId="urn:microsoft.com/office/officeart/2018/2/layout/IconLabelList"/>
    <dgm:cxn modelId="{FCBD62D0-38B2-2D43-AF16-A1C869419F6D}" type="presParOf" srcId="{87CB1235-9214-4204-854B-47E862ABD709}" destId="{28FB549C-8F85-45A7-93BC-FD6806FD39DC}" srcOrd="1" destOrd="0" presId="urn:microsoft.com/office/officeart/2018/2/layout/IconLabelList"/>
    <dgm:cxn modelId="{B3FDB0A1-C49D-D840-B053-621FF2159253}" type="presParOf" srcId="{87CB1235-9214-4204-854B-47E862ABD709}" destId="{1C0BABD8-1373-40C3-8DBD-390C2415B23C}" srcOrd="2" destOrd="0" presId="urn:microsoft.com/office/officeart/2018/2/layout/IconLabelList"/>
    <dgm:cxn modelId="{B2EB94BC-60F4-6743-AD92-AF6DE456B334}" type="presParOf" srcId="{6FC501B7-0802-40CA-80D4-E21CB34EFFF2}" destId="{35F17276-4124-4D2A-80CA-C6A28974B001}" srcOrd="5" destOrd="0" presId="urn:microsoft.com/office/officeart/2018/2/layout/IconLabelList"/>
    <dgm:cxn modelId="{79B09011-C220-8245-950E-B221E4718564}" type="presParOf" srcId="{6FC501B7-0802-40CA-80D4-E21CB34EFFF2}" destId="{49ACA208-0F8B-4784-B6A5-82C0DA823FE5}" srcOrd="6" destOrd="0" presId="urn:microsoft.com/office/officeart/2018/2/layout/IconLabelList"/>
    <dgm:cxn modelId="{A0BFCDD7-88CE-BB4C-9166-3AE7C3EC84C1}" type="presParOf" srcId="{49ACA208-0F8B-4784-B6A5-82C0DA823FE5}" destId="{9DBBF0E6-EB4A-4FBF-B1CB-A6237B82E5F1}" srcOrd="0" destOrd="0" presId="urn:microsoft.com/office/officeart/2018/2/layout/IconLabelList"/>
    <dgm:cxn modelId="{2BF13AD6-833C-D441-8471-6766E38CFA2D}" type="presParOf" srcId="{49ACA208-0F8B-4784-B6A5-82C0DA823FE5}" destId="{AAE71AE7-8376-42C0-85DF-8003DEC544DC}" srcOrd="1" destOrd="0" presId="urn:microsoft.com/office/officeart/2018/2/layout/IconLabelList"/>
    <dgm:cxn modelId="{D477A81B-C2E4-1241-9533-501849F83A1F}" type="presParOf" srcId="{49ACA208-0F8B-4784-B6A5-82C0DA823FE5}" destId="{1A76DB10-10EB-40B3-A515-19ACCBE6C896}" srcOrd="2" destOrd="0" presId="urn:microsoft.com/office/officeart/2018/2/layout/IconLabelList"/>
    <dgm:cxn modelId="{34270EFE-AB97-BD41-880F-DD99A847FA73}" type="presParOf" srcId="{6FC501B7-0802-40CA-80D4-E21CB34EFFF2}" destId="{C5159EC4-0B79-479B-ACAB-E16AD1DA4B1B}" srcOrd="7" destOrd="0" presId="urn:microsoft.com/office/officeart/2018/2/layout/IconLabelList"/>
    <dgm:cxn modelId="{30407219-222E-924E-AB62-B6C648D52B76}" type="presParOf" srcId="{6FC501B7-0802-40CA-80D4-E21CB34EFFF2}" destId="{87AD08A5-8CDF-45F2-868E-213585392FD2}" srcOrd="8" destOrd="0" presId="urn:microsoft.com/office/officeart/2018/2/layout/IconLabelList"/>
    <dgm:cxn modelId="{7D2DA714-ABAF-A247-9A3E-4C2631C988DB}" type="presParOf" srcId="{87AD08A5-8CDF-45F2-868E-213585392FD2}" destId="{A0989BF1-9906-4468-9FF2-DD6746BEEC65}" srcOrd="0" destOrd="0" presId="urn:microsoft.com/office/officeart/2018/2/layout/IconLabelList"/>
    <dgm:cxn modelId="{B0231321-EB6B-3941-90C6-2EF38DA95E12}" type="presParOf" srcId="{87AD08A5-8CDF-45F2-868E-213585392FD2}" destId="{EA63BF95-E77E-41F7-9BC8-4C24CF7B13CD}" srcOrd="1" destOrd="0" presId="urn:microsoft.com/office/officeart/2018/2/layout/IconLabelList"/>
    <dgm:cxn modelId="{2F78230B-51F4-214C-96D7-CA429C79A245}" type="presParOf" srcId="{87AD08A5-8CDF-45F2-868E-213585392FD2}" destId="{8626803D-6807-4806-8C1E-4F4BA163B26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751B6-347F-4046-BB97-DDA09025F079}">
      <dsp:nvSpPr>
        <dsp:cNvPr id="0" name=""/>
        <dsp:cNvSpPr/>
      </dsp:nvSpPr>
      <dsp:spPr>
        <a:xfrm>
          <a:off x="2250914" y="2964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F499A6-236F-409E-B617-13EE2ABE1DA1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D407E-9C29-4FC0-B5E8-3AC9DA977A44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Parent’s Level of Education </a:t>
          </a:r>
        </a:p>
      </dsp:txBody>
      <dsp:txXfrm>
        <a:off x="1548914" y="3176402"/>
        <a:ext cx="3600000" cy="720000"/>
      </dsp:txXfrm>
    </dsp:sp>
    <dsp:sp modelId="{02E7075B-6205-4B0B-9F37-AA16084D6F1E}">
      <dsp:nvSpPr>
        <dsp:cNvPr id="0" name=""/>
        <dsp:cNvSpPr/>
      </dsp:nvSpPr>
      <dsp:spPr>
        <a:xfrm>
          <a:off x="6480914" y="2964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C96764-F350-4288-80D5-8EE91E072CA3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76DD4-3CE0-4ECE-8AD4-3837895DCEA4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Completion of a Test Prep Couse</a:t>
          </a:r>
        </a:p>
      </dsp:txBody>
      <dsp:txXfrm>
        <a:off x="5778914" y="3176402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BD373C-1EB3-4B79-8B37-C4F4DF9DE1DD}">
      <dsp:nvSpPr>
        <dsp:cNvPr id="0" name=""/>
        <dsp:cNvSpPr/>
      </dsp:nvSpPr>
      <dsp:spPr>
        <a:xfrm>
          <a:off x="82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EE93BA-0769-4FF0-BBB0-68F86260BF5A}">
      <dsp:nvSpPr>
        <dsp:cNvPr id="0" name=""/>
        <dsp:cNvSpPr/>
      </dsp:nvSpPr>
      <dsp:spPr>
        <a:xfrm>
          <a:off x="33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Have data</a:t>
          </a:r>
        </a:p>
      </dsp:txBody>
      <dsp:txXfrm>
        <a:off x="333914" y="2276522"/>
        <a:ext cx="1800000" cy="720000"/>
      </dsp:txXfrm>
    </dsp:sp>
    <dsp:sp modelId="{66E8BD58-CC70-4262-88B5-CD1C2B32FAD0}">
      <dsp:nvSpPr>
        <dsp:cNvPr id="0" name=""/>
        <dsp:cNvSpPr/>
      </dsp:nvSpPr>
      <dsp:spPr>
        <a:xfrm>
          <a:off x="2943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F22D14-A473-4479-B3AC-7577CC30D91C}">
      <dsp:nvSpPr>
        <dsp:cNvPr id="0" name=""/>
        <dsp:cNvSpPr/>
      </dsp:nvSpPr>
      <dsp:spPr>
        <a:xfrm>
          <a:off x="244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Trees make decisions on random subsets of data</a:t>
          </a:r>
        </a:p>
      </dsp:txBody>
      <dsp:txXfrm>
        <a:off x="2448914" y="2276522"/>
        <a:ext cx="1800000" cy="720000"/>
      </dsp:txXfrm>
    </dsp:sp>
    <dsp:sp modelId="{C6D6C84B-4460-4E2A-BE6C-6145BB7ED79C}">
      <dsp:nvSpPr>
        <dsp:cNvPr id="0" name=""/>
        <dsp:cNvSpPr/>
      </dsp:nvSpPr>
      <dsp:spPr>
        <a:xfrm>
          <a:off x="505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BABD8-1373-40C3-8DBD-390C2415B23C}">
      <dsp:nvSpPr>
        <dsp:cNvPr id="0" name=""/>
        <dsp:cNvSpPr/>
      </dsp:nvSpPr>
      <dsp:spPr>
        <a:xfrm>
          <a:off x="456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Trees</a:t>
          </a:r>
          <a:r>
            <a:rPr lang="en-US" sz="1500" kern="1200" baseline="0" dirty="0"/>
            <a:t> vote in their decision</a:t>
          </a:r>
          <a:endParaRPr lang="en-US" sz="1500" kern="1200" dirty="0"/>
        </a:p>
      </dsp:txBody>
      <dsp:txXfrm>
        <a:off x="4563914" y="2276522"/>
        <a:ext cx="1800000" cy="720000"/>
      </dsp:txXfrm>
    </dsp:sp>
    <dsp:sp modelId="{9DBBF0E6-EB4A-4FBF-B1CB-A6237B82E5F1}">
      <dsp:nvSpPr>
        <dsp:cNvPr id="0" name=""/>
        <dsp:cNvSpPr/>
      </dsp:nvSpPr>
      <dsp:spPr>
        <a:xfrm>
          <a:off x="7173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76DB10-10EB-40B3-A515-19ACCBE6C896}">
      <dsp:nvSpPr>
        <dsp:cNvPr id="0" name=""/>
        <dsp:cNvSpPr/>
      </dsp:nvSpPr>
      <dsp:spPr>
        <a:xfrm>
          <a:off x="667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Majority wins</a:t>
          </a:r>
        </a:p>
      </dsp:txBody>
      <dsp:txXfrm>
        <a:off x="6678914" y="2276522"/>
        <a:ext cx="1800000" cy="720000"/>
      </dsp:txXfrm>
    </dsp:sp>
    <dsp:sp modelId="{A0989BF1-9906-4468-9FF2-DD6746BEEC65}">
      <dsp:nvSpPr>
        <dsp:cNvPr id="0" name=""/>
        <dsp:cNvSpPr/>
      </dsp:nvSpPr>
      <dsp:spPr>
        <a:xfrm>
          <a:off x="928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26803D-6807-4806-8C1E-4F4BA163B26B}">
      <dsp:nvSpPr>
        <dsp:cNvPr id="0" name=""/>
        <dsp:cNvSpPr/>
      </dsp:nvSpPr>
      <dsp:spPr>
        <a:xfrm>
          <a:off x="879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Final Prediction</a:t>
          </a:r>
        </a:p>
      </dsp:txBody>
      <dsp:txXfrm>
        <a:off x="8793914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92132-0FD0-734D-B408-D557C1C029D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FED4F4-45A0-4745-9288-9C676D7D8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17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ED4F4-45A0-4745-9288-9C676D7D8D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883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Parent’s level of education is never in a students control. However, the completion of a test prep course is IF it is affordable.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ED4F4-45A0-4745-9288-9C676D7D8D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14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some other drivers and are clearly attributed a student is unable to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ED4F4-45A0-4745-9288-9C676D7D8D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01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course completion plays a significant weight in student success. However,  completion of a course may be difficult if it is costly or requires supplemental tutoring and help from the parent at home which the student does not have access to.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ED4F4-45A0-4745-9288-9C676D7D8D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76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Typically, lower levels of education is associated with lower socioeconomic status which may be the reason for </a:t>
            </a:r>
            <a:r>
              <a:rPr lang="en-US" dirty="0" err="1"/>
              <a:t>th</a:t>
            </a:r>
            <a:r>
              <a:rPr lang="en-US" dirty="0"/>
              <a:t> </a:t>
            </a:r>
            <a:r>
              <a:rPr lang="en-US" dirty="0" err="1"/>
              <a:t>elack</a:t>
            </a:r>
            <a:r>
              <a:rPr lang="en-US" dirty="0"/>
              <a:t> of prep course completion if cost was a barrier…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ED4F4-45A0-4745-9288-9C676D7D8D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997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if there are any differences based upon race when it comes to parent’s education – group D seems to have the lowest predictions of success with all education levels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ED4F4-45A0-4745-9288-9C676D7D8D7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37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this plot 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ED4F4-45A0-4745-9288-9C676D7D8D7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80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C741A-EB3D-BB00-B191-7592FBF44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D67F7-65E6-EE00-DCBF-1AD7E0921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B9949-5E9B-D781-2F33-7D47F4B04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E97A9-83BC-0FC1-7091-FCAF8C7D9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ED4F4-45A0-4745-9288-9C676D7D8D7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98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3C292-F874-4866-4E84-CA05B1BEF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4B912-7C4A-E8B6-BAF5-10B6F3EE3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1E223-31B3-BD4C-A99D-921F8ED42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A4957-7058-CFEC-1367-E09ADE09E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ED4F4-45A0-4745-9288-9C676D7D8D7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10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73A05-61BD-EB7D-0390-6E76A85E5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C8463-7E7B-EE58-ED54-488D271C3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23F28-4F2E-DBC9-ACD8-C50D9B882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1AB3-E93C-E387-7314-EA5040C25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ED4F4-45A0-4745-9288-9C676D7D8D7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94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9C64-E3C8-B118-6BBB-AF9D455A4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BDF10-A477-C4B1-43AB-F61E0446D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E306E-5EB6-9FD5-E2D2-0BFA9A324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BE5E-6BF3-0147-9110-DB2C87D0C12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BB1FA-CF8E-C59C-9304-4E8F48F81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78056-76B4-7DB8-D86B-37D38AEE9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8767-E756-1344-8AED-77F402B8C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AC00-9FB8-5134-9E8B-C8AD85E4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8A666-B889-5968-DF0B-098395DA7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30260-3866-8C14-5704-2C3B65DCB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BE5E-6BF3-0147-9110-DB2C87D0C12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FF7FC-5CEB-C94F-817A-F79BC4F1B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A4438-E0E8-ED7F-A270-2665D8C59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8767-E756-1344-8AED-77F402B8C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93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76A9-4966-6083-6A4B-90DF53F9F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17380-2636-88C6-1084-F9419A977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B6BFC-4E78-5E14-041D-3B2976CA4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BE5E-6BF3-0147-9110-DB2C87D0C12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1B1AF-4722-9B41-C322-F7EA9051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CEF8B-6FB9-A60C-7B86-38F6B164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8767-E756-1344-8AED-77F402B8C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45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2B7B-967A-5964-911B-BD3F2919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1CED-BEC1-49B8-CD2E-9FC3EA28B7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FE384-2FC5-2000-5971-B9C6870A2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D75E7-14C8-FBA7-42F1-6B3DB7CC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BE5E-6BF3-0147-9110-DB2C87D0C12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436AA-FD63-C74E-AE3C-0306E97E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3A585-6BAF-B482-040D-5991676C3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8767-E756-1344-8AED-77F402B8C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11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D123-1DB9-92DE-FF39-5282E198B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71C3C-39C2-E165-49AD-BA6F8B2E4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32FD2-200F-8E8E-9E93-F4610C6F7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0BE3D2-F7EA-DE2F-D0CA-F07C5D9B6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A948B6-D8E9-DD05-F517-2DD4267C82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1837F1-17D7-880E-ACB7-83033FE54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BE5E-6BF3-0147-9110-DB2C87D0C12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336654-A9F1-152C-5430-5429B2A2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6C33B-D499-66DB-5B23-C3357BC4D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8767-E756-1344-8AED-77F402B8C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7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4B5E3-6AFF-4220-BCEA-0153DE90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A5258-B9B5-EE3A-AF3C-1B1D4886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BE5E-6BF3-0147-9110-DB2C87D0C12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3544F-B53E-83BA-F3EF-3575F9DFC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341BB-AB22-D2C7-34DF-CD7280E1E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8767-E756-1344-8AED-77F402B8C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724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A6922-6607-968D-6BE5-D22E55EF4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BE5E-6BF3-0147-9110-DB2C87D0C12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B858C6-CECB-CA03-31DA-D678C045B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B4CC7-342E-8F02-1FA5-C68AE9FC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8767-E756-1344-8AED-77F402B8C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21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D8B0-47BB-F606-33D6-21A3A75D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B4D88-3088-6C1B-2B3A-D2C0414E8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C3F837-EAB5-2FB8-83DE-F09A53A07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0C6FA-8DE9-D747-15BB-1C610E54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BE5E-6BF3-0147-9110-DB2C87D0C12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2765F-1432-F563-5883-1900DAEE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119AA-BF9A-1B27-8BD4-44F1D034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8767-E756-1344-8AED-77F402B8C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6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43E71-2E49-04BD-CADF-BA52631DD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D92866-583E-356A-C6C3-9E7F0343C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92EE6-83CB-8D10-9CC2-0335B2E32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B3AEE-27E4-A5FA-6DDA-4E3629A8D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BE5E-6BF3-0147-9110-DB2C87D0C12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233A4-548B-86C9-2552-124F5C03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5CA8F-702C-AFA3-265A-7E7BB0C9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8767-E756-1344-8AED-77F402B8C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96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58F21-4591-9804-9B35-6D68C58D9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62CEF-AA14-4E96-B6DE-98EF5B89D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610EE-47D7-97CB-27E0-9DCFCCA32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BE5E-6BF3-0147-9110-DB2C87D0C12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FC0D8-04A1-2A51-31AC-4164AEDE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B72E4-75A3-76B1-196E-377DACA2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8767-E756-1344-8AED-77F402B8C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62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28A69-8FBA-0A69-A093-71D7ECC7F7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9A7531-0EF7-1685-4256-C69D9173A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5279B-DC83-4ABC-6D51-11AC788D1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BE5E-6BF3-0147-9110-DB2C87D0C12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5B654-F280-ADBA-6C7C-3A7F7A8D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1B78C-5ECF-EFBE-15E6-6391F1C22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B8767-E756-1344-8AED-77F402B8C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35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8BEE6B-26F9-BFA0-FFBE-974B5E948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EADE6-00A6-17CE-F7C3-88D0E0CA9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3CC50-D540-2FF3-793A-621009D37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01BE5E-6BF3-0147-9110-DB2C87D0C12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477D5-0A4E-9638-B240-D79065A74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79DBB-D155-7568-EE0F-CC81046F0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9B8767-E756-1344-8AED-77F402B8C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9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54C731DB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809D4D-869F-72AA-33BB-3C7C0E806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SmartEd Solutions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40304-ABA7-34A3-217C-F91BAEDFC9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Husna Iqbal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84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B4F9CE-DDC7-3F66-D487-AB541B4CE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2" y="339604"/>
            <a:ext cx="6022475" cy="16675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Our Services</a:t>
            </a:r>
          </a:p>
        </p:txBody>
      </p:sp>
      <p:pic>
        <p:nvPicPr>
          <p:cNvPr id="7" name="Graphic 6" descr="Classroom">
            <a:extLst>
              <a:ext uri="{FF2B5EF4-FFF2-40B4-BE49-F238E27FC236}">
                <a16:creationId xmlns:a16="http://schemas.microsoft.com/office/drawing/2014/main" id="{A894903B-F14B-3121-B9E6-4479A2915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CDDE25-5E58-6714-A527-5F42E284B53C}"/>
              </a:ext>
            </a:extLst>
          </p:cNvPr>
          <p:cNvSpPr txBox="1"/>
          <p:nvPr/>
        </p:nvSpPr>
        <p:spPr>
          <a:xfrm>
            <a:off x="5596502" y="2550207"/>
            <a:ext cx="6190686" cy="31974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Support </a:t>
            </a:r>
            <a:r>
              <a:rPr lang="en-US" sz="2400" i="1" dirty="0"/>
              <a:t>all</a:t>
            </a:r>
            <a:r>
              <a:rPr lang="en-US" sz="2400" dirty="0"/>
              <a:t> students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Offer programs for various exams and student demographics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Decrease barriers of education and success for underrepresented groups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3D7D184-36EF-F8EC-54FC-F45122E0C130}"/>
              </a:ext>
            </a:extLst>
          </p:cNvPr>
          <p:cNvSpPr/>
          <p:nvPr/>
        </p:nvSpPr>
        <p:spPr>
          <a:xfrm>
            <a:off x="5596502" y="975361"/>
            <a:ext cx="4498848" cy="10318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 Our Mission</a:t>
            </a:r>
          </a:p>
        </p:txBody>
      </p:sp>
    </p:spTree>
    <p:extLst>
      <p:ext uri="{BB962C8B-B14F-4D97-AF65-F5344CB8AC3E}">
        <p14:creationId xmlns:p14="http://schemas.microsoft.com/office/powerpoint/2010/main" val="319565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B7CCB-5D12-F915-B4E2-003361CCC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is this Our Mission?</a:t>
            </a:r>
          </a:p>
        </p:txBody>
      </p:sp>
    </p:spTree>
    <p:extLst>
      <p:ext uri="{BB962C8B-B14F-4D97-AF65-F5344CB8AC3E}">
        <p14:creationId xmlns:p14="http://schemas.microsoft.com/office/powerpoint/2010/main" val="88405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E88E44-3F76-C654-A55E-526ED49F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Top Drivers for Student Success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0CC47E-5E41-05D2-141E-AAC14DDD11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148683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6684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CEA38-C039-A843-135B-2B37DD80F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4C63CEC-E7E2-FAD8-6BF9-74AAEEBB6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27AF3C-8F30-C4A2-D652-369D9F96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3A9A99-309A-CD2F-4C49-D5940B1C8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99ACBF-02D9-7367-D8C5-CBFC89D14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B2E69D-12A8-4E24-1214-F5927BF75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Other Drivers for Student Success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0DC4EC3-06CA-A3CA-CBFA-EC24A8478936}"/>
              </a:ext>
            </a:extLst>
          </p:cNvPr>
          <p:cNvSpPr/>
          <p:nvPr/>
        </p:nvSpPr>
        <p:spPr>
          <a:xfrm>
            <a:off x="1265495" y="2455886"/>
            <a:ext cx="2196000" cy="2196000"/>
          </a:xfrm>
          <a:prstGeom prst="ellipse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1CF9CA4-02D9-9C39-FC86-51BFC4A5AC09}"/>
              </a:ext>
            </a:extLst>
          </p:cNvPr>
          <p:cNvSpPr/>
          <p:nvPr/>
        </p:nvSpPr>
        <p:spPr>
          <a:xfrm>
            <a:off x="8479952" y="2455886"/>
            <a:ext cx="2196000" cy="2196000"/>
          </a:xfrm>
          <a:prstGeom prst="ellipse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E4EFC79-7397-C3FE-6326-0A4EF565CEEF}"/>
              </a:ext>
            </a:extLst>
          </p:cNvPr>
          <p:cNvSpPr/>
          <p:nvPr/>
        </p:nvSpPr>
        <p:spPr>
          <a:xfrm>
            <a:off x="5026823" y="2455886"/>
            <a:ext cx="2196000" cy="2196000"/>
          </a:xfrm>
          <a:prstGeom prst="ellipse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Graphic 13" descr="Gender outline">
            <a:extLst>
              <a:ext uri="{FF2B5EF4-FFF2-40B4-BE49-F238E27FC236}">
                <a16:creationId xmlns:a16="http://schemas.microsoft.com/office/drawing/2014/main" id="{8A10D778-8CAB-25EE-D877-E2B100E62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5671" y="2971582"/>
            <a:ext cx="1175602" cy="1175602"/>
          </a:xfrm>
          <a:prstGeom prst="rect">
            <a:avLst/>
          </a:prstGeom>
        </p:spPr>
      </p:pic>
      <p:pic>
        <p:nvPicPr>
          <p:cNvPr id="10" name="Graphic 9" descr="User outline">
            <a:extLst>
              <a:ext uri="{FF2B5EF4-FFF2-40B4-BE49-F238E27FC236}">
                <a16:creationId xmlns:a16="http://schemas.microsoft.com/office/drawing/2014/main" id="{9A93C4E8-C812-F2C0-1306-D55A25C93F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7927" y="2885040"/>
            <a:ext cx="1230059" cy="1230059"/>
          </a:xfrm>
          <a:prstGeom prst="rect">
            <a:avLst/>
          </a:prstGeom>
        </p:spPr>
      </p:pic>
      <p:pic>
        <p:nvPicPr>
          <p:cNvPr id="23" name="Graphic 22" descr="Lunch Box outline">
            <a:extLst>
              <a:ext uri="{FF2B5EF4-FFF2-40B4-BE49-F238E27FC236}">
                <a16:creationId xmlns:a16="http://schemas.microsoft.com/office/drawing/2014/main" id="{A574EB0A-99E7-1EBA-57F3-3F2B8CFAE5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63415" y="2964026"/>
            <a:ext cx="1132576" cy="113257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DFA71DF2-71D0-E65B-3725-94A14BB2D753}"/>
              </a:ext>
            </a:extLst>
          </p:cNvPr>
          <p:cNvGrpSpPr/>
          <p:nvPr/>
        </p:nvGrpSpPr>
        <p:grpSpPr>
          <a:xfrm>
            <a:off x="563495" y="5281385"/>
            <a:ext cx="3600000" cy="720000"/>
            <a:chOff x="1548914" y="3176402"/>
            <a:chExt cx="3600000" cy="72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E7976BC-A820-0E19-88DA-39B1387F4F11}"/>
                </a:ext>
              </a:extLst>
            </p:cNvPr>
            <p:cNvSpPr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F72EA42-ACA7-349C-09E7-16655F1D0ED5}"/>
                </a:ext>
              </a:extLst>
            </p:cNvPr>
            <p:cNvSpPr txBox="1"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2500" kern="1200" dirty="0"/>
                <a:t>Free or Reduced lunch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569F297-4B2E-98EF-19BF-B58F32D674C1}"/>
              </a:ext>
            </a:extLst>
          </p:cNvPr>
          <p:cNvGrpSpPr/>
          <p:nvPr/>
        </p:nvGrpSpPr>
        <p:grpSpPr>
          <a:xfrm>
            <a:off x="4328491" y="5281385"/>
            <a:ext cx="3600000" cy="720000"/>
            <a:chOff x="1548914" y="3176402"/>
            <a:chExt cx="3600000" cy="720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458B4C2-B316-FDE6-3BFE-6086704EFE09}"/>
                </a:ext>
              </a:extLst>
            </p:cNvPr>
            <p:cNvSpPr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44CB271-AB24-6A04-8C7E-9AE45483EA1E}"/>
                </a:ext>
              </a:extLst>
            </p:cNvPr>
            <p:cNvSpPr txBox="1"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2500" kern="1200" dirty="0"/>
                <a:t>Race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7BD9D82-8AE1-5DBC-3C84-AEF2636FB809}"/>
              </a:ext>
            </a:extLst>
          </p:cNvPr>
          <p:cNvGrpSpPr/>
          <p:nvPr/>
        </p:nvGrpSpPr>
        <p:grpSpPr>
          <a:xfrm>
            <a:off x="4296000" y="3069000"/>
            <a:ext cx="7115644" cy="2890013"/>
            <a:chOff x="1548914" y="3176402"/>
            <a:chExt cx="7115644" cy="289001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9B23BD3-5005-B817-21BB-7D854193EEDD}"/>
                </a:ext>
              </a:extLst>
            </p:cNvPr>
            <p:cNvSpPr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FB02AE3-7211-1395-CDCF-1A615157C6C3}"/>
                </a:ext>
              </a:extLst>
            </p:cNvPr>
            <p:cNvSpPr txBox="1"/>
            <p:nvPr/>
          </p:nvSpPr>
          <p:spPr>
            <a:xfrm>
              <a:off x="5064558" y="5346415"/>
              <a:ext cx="3600000" cy="72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2500" kern="1200" dirty="0"/>
                <a:t>gender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4254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E6F9D-AF5D-418F-0D0B-4BEA7F497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41DE0F-AA15-9F17-A0E2-2AA10F884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Where did this Data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FC704-7CFD-1E1A-7602-DEB9C6299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622745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600" dirty="0"/>
              <a:t>Data was given by several standardized testing agencies primarily the ACT, SAT and other state standardized testing that occurs throughout elementary and middle school.</a:t>
            </a:r>
          </a:p>
        </p:txBody>
      </p:sp>
    </p:spTree>
    <p:extLst>
      <p:ext uri="{BB962C8B-B14F-4D97-AF65-F5344CB8AC3E}">
        <p14:creationId xmlns:p14="http://schemas.microsoft.com/office/powerpoint/2010/main" val="2688527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78390C-D529-A980-3987-C634CAA6F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4F84AFB-D65C-D3F8-ED34-451DE913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388333-4B4D-C97B-36AD-7BCF2F610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515B63-0900-86AE-096D-D82EF6D14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F2AE68-4E1A-DD16-525A-2CDF590D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EC22FA-469E-BAB0-66B6-2709268D5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D0A074-EEE8-0085-F404-5945A4B68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942572-1C3F-E9A7-0BE3-227E0224C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D0CA6-5326-3316-7A60-E48B05550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do we define Success?</a:t>
            </a:r>
          </a:p>
        </p:txBody>
      </p:sp>
    </p:spTree>
    <p:extLst>
      <p:ext uri="{BB962C8B-B14F-4D97-AF65-F5344CB8AC3E}">
        <p14:creationId xmlns:p14="http://schemas.microsoft.com/office/powerpoint/2010/main" val="36590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7B549-738F-072A-F487-F61681509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 Successful Student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EE6A931-A572-F015-A447-961518A69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1952776"/>
            <a:ext cx="9895951" cy="2952448"/>
          </a:xfrm>
        </p:spPr>
        <p:txBody>
          <a:bodyPr anchor="ctr">
            <a:normAutofit/>
          </a:bodyPr>
          <a:lstStyle/>
          <a:p>
            <a:r>
              <a:rPr lang="en-US" dirty="0"/>
              <a:t>Reading, Writing, and Math score greater than 75%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Only 18.8% of students fall into this category</a:t>
            </a:r>
          </a:p>
        </p:txBody>
      </p:sp>
    </p:spTree>
    <p:extLst>
      <p:ext uri="{BB962C8B-B14F-4D97-AF65-F5344CB8AC3E}">
        <p14:creationId xmlns:p14="http://schemas.microsoft.com/office/powerpoint/2010/main" val="3744145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72D06-8D3D-CA2C-70E5-AA8389D84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0BCD9EB-3215-5CCC-4C69-CE791ADD6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F89B6B-F1A5-0204-85A4-1BC531EC2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8EC217-B82E-3D55-F938-282801BF4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C7D033-1878-A77D-DDAD-C8F707451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E8E11B-BFEC-7BAA-4899-48BB748BF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8883E4-3735-BEB1-7609-962C62752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D45F52A-9B21-FD4C-BEF4-58DE60501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E1804F-4045-4EFC-FAFB-6C6619D8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were we able to predict a successful student?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046CD-BCDE-7F1A-C02C-504CFD00DB93}"/>
              </a:ext>
            </a:extLst>
          </p:cNvPr>
          <p:cNvSpPr txBox="1"/>
          <p:nvPr/>
        </p:nvSpPr>
        <p:spPr>
          <a:xfrm>
            <a:off x="3523488" y="4754015"/>
            <a:ext cx="4949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Using a Random Forest Model!</a:t>
            </a:r>
          </a:p>
        </p:txBody>
      </p:sp>
    </p:spTree>
    <p:extLst>
      <p:ext uri="{BB962C8B-B14F-4D97-AF65-F5344CB8AC3E}">
        <p14:creationId xmlns:p14="http://schemas.microsoft.com/office/powerpoint/2010/main" val="4164601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0FA996-7568-541D-56EE-488D232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is a Random Forest Model?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FFDF9D-B832-D467-A44C-44842CDD7E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32338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7541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5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BB372-BB0B-63D9-15E7-7EC03D93F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53AAAC-1001-DB28-AEA5-C117BD534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D0392B-7978-68E2-6530-BE20D76D1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914E80-73B2-2426-9383-DB2C62CC1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6C0873-9168-334E-6449-82B52A452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FC4E2-5A77-6A27-6A07-0944EC037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Assessing Drivers of Student Success</a:t>
            </a:r>
          </a:p>
        </p:txBody>
      </p:sp>
      <p:pic>
        <p:nvPicPr>
          <p:cNvPr id="6" name="Picture 5" descr="A graph with blue bars&#10;&#10;Description automatically generated with medium confidence">
            <a:extLst>
              <a:ext uri="{FF2B5EF4-FFF2-40B4-BE49-F238E27FC236}">
                <a16:creationId xmlns:a16="http://schemas.microsoft.com/office/drawing/2014/main" id="{3EE0C1DE-0FB7-3C00-AF0E-F78A7AA55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516" y="1752346"/>
            <a:ext cx="7772400" cy="48215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A395ADA-151A-69DA-EF03-F365643C962B}"/>
              </a:ext>
            </a:extLst>
          </p:cNvPr>
          <p:cNvSpPr/>
          <p:nvPr/>
        </p:nvSpPr>
        <p:spPr>
          <a:xfrm>
            <a:off x="1597152" y="2743200"/>
            <a:ext cx="1621536" cy="3279648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B3F5C3-F179-27CD-7588-F7FD6B16FF34}"/>
              </a:ext>
            </a:extLst>
          </p:cNvPr>
          <p:cNvSpPr txBox="1"/>
          <p:nvPr/>
        </p:nvSpPr>
        <p:spPr>
          <a:xfrm>
            <a:off x="1597152" y="2816352"/>
            <a:ext cx="19385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Parent’s Level of Education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3AADFA-EB5A-EC59-6111-17300ACE4D9A}"/>
              </a:ext>
            </a:extLst>
          </p:cNvPr>
          <p:cNvSpPr txBox="1"/>
          <p:nvPr/>
        </p:nvSpPr>
        <p:spPr>
          <a:xfrm>
            <a:off x="1609344" y="3480816"/>
            <a:ext cx="20360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Prep Course Completion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CA4649-A548-7EF2-2D76-CAD1072B7392}"/>
              </a:ext>
            </a:extLst>
          </p:cNvPr>
          <p:cNvSpPr txBox="1"/>
          <p:nvPr/>
        </p:nvSpPr>
        <p:spPr>
          <a:xfrm>
            <a:off x="1706880" y="4163126"/>
            <a:ext cx="19385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Free / Reduced Lunch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1CF24C-DA69-C8BD-4225-EFA7D77C7347}"/>
              </a:ext>
            </a:extLst>
          </p:cNvPr>
          <p:cNvSpPr txBox="1"/>
          <p:nvPr/>
        </p:nvSpPr>
        <p:spPr>
          <a:xfrm>
            <a:off x="1999488" y="4845436"/>
            <a:ext cx="19385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Race / Ethnicity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DAFADE-7CBA-BBC6-47D1-52599DA916D4}"/>
              </a:ext>
            </a:extLst>
          </p:cNvPr>
          <p:cNvSpPr txBox="1"/>
          <p:nvPr/>
        </p:nvSpPr>
        <p:spPr>
          <a:xfrm>
            <a:off x="2548699" y="5578866"/>
            <a:ext cx="8284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Gender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F4644A-6296-6C5B-F6EA-D347CCDC2F17}"/>
              </a:ext>
            </a:extLst>
          </p:cNvPr>
          <p:cNvSpPr/>
          <p:nvPr/>
        </p:nvSpPr>
        <p:spPr>
          <a:xfrm>
            <a:off x="1170432" y="1752346"/>
            <a:ext cx="240348" cy="4605264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B7F82F-586E-0DB0-3F2A-D35AE767FF91}"/>
              </a:ext>
            </a:extLst>
          </p:cNvPr>
          <p:cNvSpPr/>
          <p:nvPr/>
        </p:nvSpPr>
        <p:spPr>
          <a:xfrm rot="5400000">
            <a:off x="5441823" y="-1123061"/>
            <a:ext cx="789686" cy="6540500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577D93-C8D0-A03D-F464-DD5F21133256}"/>
              </a:ext>
            </a:extLst>
          </p:cNvPr>
          <p:cNvSpPr txBox="1"/>
          <p:nvPr/>
        </p:nvSpPr>
        <p:spPr>
          <a:xfrm>
            <a:off x="3816096" y="1996655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 Attributes Most Related to Success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113B1F-8E1A-9E16-0C04-3BFD184606E8}"/>
              </a:ext>
            </a:extLst>
          </p:cNvPr>
          <p:cNvSpPr/>
          <p:nvPr/>
        </p:nvSpPr>
        <p:spPr>
          <a:xfrm rot="5400000">
            <a:off x="5100952" y="2504806"/>
            <a:ext cx="355986" cy="8028686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BE3874-18C1-B723-773E-79C1B7B98EC1}"/>
              </a:ext>
            </a:extLst>
          </p:cNvPr>
          <p:cNvSpPr txBox="1"/>
          <p:nvPr/>
        </p:nvSpPr>
        <p:spPr>
          <a:xfrm>
            <a:off x="4693540" y="6425043"/>
            <a:ext cx="4693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Contribution to Predicting Success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A3099A-4B71-50CE-87BD-FEE84B38B09B}"/>
              </a:ext>
            </a:extLst>
          </p:cNvPr>
          <p:cNvSpPr/>
          <p:nvPr/>
        </p:nvSpPr>
        <p:spPr>
          <a:xfrm>
            <a:off x="1749552" y="6096000"/>
            <a:ext cx="7521448" cy="173084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54DB39-E290-AC46-F621-18024A815EDF}"/>
              </a:ext>
            </a:extLst>
          </p:cNvPr>
          <p:cNvSpPr txBox="1"/>
          <p:nvPr/>
        </p:nvSpPr>
        <p:spPr>
          <a:xfrm>
            <a:off x="3407474" y="6079251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20%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04F506-FD5C-7751-62DC-382925AEE8A1}"/>
              </a:ext>
            </a:extLst>
          </p:cNvPr>
          <p:cNvSpPr txBox="1"/>
          <p:nvPr/>
        </p:nvSpPr>
        <p:spPr>
          <a:xfrm>
            <a:off x="4982782" y="6062590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25%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2FC47A-215C-8B7B-C0F3-356C21989806}"/>
              </a:ext>
            </a:extLst>
          </p:cNvPr>
          <p:cNvSpPr txBox="1"/>
          <p:nvPr/>
        </p:nvSpPr>
        <p:spPr>
          <a:xfrm>
            <a:off x="6558090" y="6056775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30%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7952DD-1DDF-7D4D-2ED6-653E1E3FB858}"/>
              </a:ext>
            </a:extLst>
          </p:cNvPr>
          <p:cNvSpPr txBox="1"/>
          <p:nvPr/>
        </p:nvSpPr>
        <p:spPr>
          <a:xfrm>
            <a:off x="8176896" y="6056775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35%</a:t>
            </a:r>
          </a:p>
        </p:txBody>
      </p:sp>
    </p:spTree>
    <p:extLst>
      <p:ext uri="{BB962C8B-B14F-4D97-AF65-F5344CB8AC3E}">
        <p14:creationId xmlns:p14="http://schemas.microsoft.com/office/powerpoint/2010/main" val="773526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5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2E7BB5-4798-994C-BFAC-3F6D78225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828017-9912-47E4-300B-B7A2486E1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1ABD26-7402-30D0-62CA-AEE9680D9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FC5ACF-A0DE-83B2-829C-07587874B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512DF3-370C-892E-8850-168390130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53BC86-7A55-C7FD-14F1-D9B5E03A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Assessing Parent’s Level of Education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818B2A-8C30-4DF1-1F86-6285056F1FD2}"/>
              </a:ext>
            </a:extLst>
          </p:cNvPr>
          <p:cNvSpPr/>
          <p:nvPr/>
        </p:nvSpPr>
        <p:spPr>
          <a:xfrm>
            <a:off x="1170432" y="1752346"/>
            <a:ext cx="240348" cy="4605264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E9D466-F98D-CD57-C74F-48CBEDF234B6}"/>
              </a:ext>
            </a:extLst>
          </p:cNvPr>
          <p:cNvSpPr/>
          <p:nvPr/>
        </p:nvSpPr>
        <p:spPr>
          <a:xfrm rot="5400000">
            <a:off x="5441823" y="-1123061"/>
            <a:ext cx="789686" cy="6540500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a graph of a level of education&#10;&#10;Description automatically generated with medium confidence">
            <a:extLst>
              <a:ext uri="{FF2B5EF4-FFF2-40B4-BE49-F238E27FC236}">
                <a16:creationId xmlns:a16="http://schemas.microsoft.com/office/drawing/2014/main" id="{CD72C762-BFF8-22E7-4AEE-1CF505204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780" y="2034921"/>
            <a:ext cx="7772400" cy="47881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00B0A3F-001E-1E4E-D2A5-E0D81183A211}"/>
              </a:ext>
            </a:extLst>
          </p:cNvPr>
          <p:cNvSpPr/>
          <p:nvPr/>
        </p:nvSpPr>
        <p:spPr>
          <a:xfrm>
            <a:off x="2167572" y="2824607"/>
            <a:ext cx="398844" cy="3198241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6612B1-2DC8-7752-F9E8-C36F9FAF3362}"/>
              </a:ext>
            </a:extLst>
          </p:cNvPr>
          <p:cNvSpPr txBox="1"/>
          <p:nvPr/>
        </p:nvSpPr>
        <p:spPr>
          <a:xfrm>
            <a:off x="2160207" y="4940136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1321D6-0186-F45B-EA45-AD4F3222EAFB}"/>
              </a:ext>
            </a:extLst>
          </p:cNvPr>
          <p:cNvSpPr txBox="1"/>
          <p:nvPr/>
        </p:nvSpPr>
        <p:spPr>
          <a:xfrm>
            <a:off x="2129060" y="4428998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75B29D-449B-D365-967C-85962F57C277}"/>
              </a:ext>
            </a:extLst>
          </p:cNvPr>
          <p:cNvSpPr txBox="1"/>
          <p:nvPr/>
        </p:nvSpPr>
        <p:spPr>
          <a:xfrm>
            <a:off x="2129060" y="3955122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15%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69368A-3852-2AEC-EA34-54CF6146B5E3}"/>
              </a:ext>
            </a:extLst>
          </p:cNvPr>
          <p:cNvSpPr txBox="1"/>
          <p:nvPr/>
        </p:nvSpPr>
        <p:spPr>
          <a:xfrm>
            <a:off x="2105344" y="3433699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20%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77E8A9-F056-65C0-895A-474A630FAA75}"/>
              </a:ext>
            </a:extLst>
          </p:cNvPr>
          <p:cNvSpPr txBox="1"/>
          <p:nvPr/>
        </p:nvSpPr>
        <p:spPr>
          <a:xfrm>
            <a:off x="2105344" y="2908051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25%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1465CE-2408-B3DE-B36F-918C2F42188D}"/>
              </a:ext>
            </a:extLst>
          </p:cNvPr>
          <p:cNvSpPr txBox="1"/>
          <p:nvPr/>
        </p:nvSpPr>
        <p:spPr>
          <a:xfrm>
            <a:off x="2167571" y="5418772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0%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9221E8-35D6-D44A-FBC9-7C2786FB121D}"/>
              </a:ext>
            </a:extLst>
          </p:cNvPr>
          <p:cNvSpPr/>
          <p:nvPr/>
        </p:nvSpPr>
        <p:spPr>
          <a:xfrm rot="5400000">
            <a:off x="4767873" y="-141848"/>
            <a:ext cx="877422" cy="540474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77E27E-304F-14FA-D073-1A7B87A0F08E}"/>
              </a:ext>
            </a:extLst>
          </p:cNvPr>
          <p:cNvSpPr txBox="1"/>
          <p:nvPr/>
        </p:nvSpPr>
        <p:spPr>
          <a:xfrm>
            <a:off x="3073766" y="2205266"/>
            <a:ext cx="510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Parent’s Level of Education and Student Success</a:t>
            </a:r>
          </a:p>
        </p:txBody>
      </p:sp>
      <p:sp>
        <p:nvSpPr>
          <p:cNvPr id="34" name="Oval Callout 33">
            <a:extLst>
              <a:ext uri="{FF2B5EF4-FFF2-40B4-BE49-F238E27FC236}">
                <a16:creationId xmlns:a16="http://schemas.microsoft.com/office/drawing/2014/main" id="{E6D0843C-273E-40AB-8AEF-0778D7A23378}"/>
              </a:ext>
            </a:extLst>
          </p:cNvPr>
          <p:cNvSpPr/>
          <p:nvPr/>
        </p:nvSpPr>
        <p:spPr>
          <a:xfrm>
            <a:off x="8674720" y="1986403"/>
            <a:ext cx="2505344" cy="1312808"/>
          </a:xfrm>
          <a:prstGeom prst="wedgeEllipseCallout">
            <a:avLst>
              <a:gd name="adj1" fmla="val -43427"/>
              <a:gd name="adj2" fmla="val 72450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Students whose parents hold a master’s degree have the highest chance of success!</a:t>
            </a:r>
          </a:p>
        </p:txBody>
      </p:sp>
    </p:spTree>
    <p:extLst>
      <p:ext uri="{BB962C8B-B14F-4D97-AF65-F5344CB8AC3E}">
        <p14:creationId xmlns:p14="http://schemas.microsoft.com/office/powerpoint/2010/main" val="759706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5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361ED-336F-F6FA-FE78-490827042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71E2AD-D7A9-E1B1-DE91-E2DE760FD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6BFB2A-40DC-93E7-65F4-AC845DD13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04EF1B-1CBB-8CC9-CE6E-A5840514F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F0932A-0E64-9B20-2248-A18B8F255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F0CB2-18C6-E8DA-0D46-EA69E1B39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Assessing Test Prep Course Completion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733CE2-8DC2-90B5-A43F-BAD0F7466708}"/>
              </a:ext>
            </a:extLst>
          </p:cNvPr>
          <p:cNvSpPr/>
          <p:nvPr/>
        </p:nvSpPr>
        <p:spPr>
          <a:xfrm>
            <a:off x="3049510" y="2337949"/>
            <a:ext cx="240348" cy="4605264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with blue squares&#10;&#10;Description automatically generated">
            <a:extLst>
              <a:ext uri="{FF2B5EF4-FFF2-40B4-BE49-F238E27FC236}">
                <a16:creationId xmlns:a16="http://schemas.microsoft.com/office/drawing/2014/main" id="{4019F7B4-E1A7-E1F8-2D8E-1DEBDE6CD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7" y="1807288"/>
            <a:ext cx="7774920" cy="48188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613B60-F153-E3F4-3EEF-5FA2328350CC}"/>
              </a:ext>
            </a:extLst>
          </p:cNvPr>
          <p:cNvSpPr/>
          <p:nvPr/>
        </p:nvSpPr>
        <p:spPr>
          <a:xfrm rot="5400000">
            <a:off x="4694220" y="-1752945"/>
            <a:ext cx="1218602" cy="816864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A9AD3C-A94F-21DE-3CD1-726D15584925}"/>
              </a:ext>
            </a:extLst>
          </p:cNvPr>
          <p:cNvSpPr/>
          <p:nvPr/>
        </p:nvSpPr>
        <p:spPr>
          <a:xfrm rot="10800000">
            <a:off x="2065208" y="2182367"/>
            <a:ext cx="361000" cy="3948325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90AA31-4C53-725C-1D6E-008DBA982A1E}"/>
              </a:ext>
            </a:extLst>
          </p:cNvPr>
          <p:cNvSpPr txBox="1"/>
          <p:nvPr/>
        </p:nvSpPr>
        <p:spPr>
          <a:xfrm>
            <a:off x="2130995" y="5235892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51E9E1-FF95-23BC-69B9-080188CC7C1E}"/>
              </a:ext>
            </a:extLst>
          </p:cNvPr>
          <p:cNvSpPr txBox="1"/>
          <p:nvPr/>
        </p:nvSpPr>
        <p:spPr>
          <a:xfrm>
            <a:off x="2125778" y="4431084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9CB70B-DA1B-77C2-5EEB-55AD2AF58C2D}"/>
              </a:ext>
            </a:extLst>
          </p:cNvPr>
          <p:cNvSpPr txBox="1"/>
          <p:nvPr/>
        </p:nvSpPr>
        <p:spPr>
          <a:xfrm>
            <a:off x="2071003" y="3655725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FC301F-BB79-E3E4-158B-7C281093D1C4}"/>
              </a:ext>
            </a:extLst>
          </p:cNvPr>
          <p:cNvSpPr txBox="1"/>
          <p:nvPr/>
        </p:nvSpPr>
        <p:spPr>
          <a:xfrm>
            <a:off x="2065207" y="2834401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15%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E19756-0A63-BFBD-4FA8-57AA632D74DD}"/>
              </a:ext>
            </a:extLst>
          </p:cNvPr>
          <p:cNvSpPr txBox="1"/>
          <p:nvPr/>
        </p:nvSpPr>
        <p:spPr>
          <a:xfrm>
            <a:off x="3167793" y="2004869"/>
            <a:ext cx="523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Prep Course Completion and Student Success</a:t>
            </a:r>
          </a:p>
        </p:txBody>
      </p:sp>
      <p:sp>
        <p:nvSpPr>
          <p:cNvPr id="22" name="Oval Callout 21">
            <a:extLst>
              <a:ext uri="{FF2B5EF4-FFF2-40B4-BE49-F238E27FC236}">
                <a16:creationId xmlns:a16="http://schemas.microsoft.com/office/drawing/2014/main" id="{EB247635-DB7E-6781-E93D-3B51F51ECFD5}"/>
              </a:ext>
            </a:extLst>
          </p:cNvPr>
          <p:cNvSpPr/>
          <p:nvPr/>
        </p:nvSpPr>
        <p:spPr>
          <a:xfrm>
            <a:off x="9146517" y="2071379"/>
            <a:ext cx="2577397" cy="1344604"/>
          </a:xfrm>
          <a:prstGeom prst="wedgeEllipseCallout">
            <a:avLst>
              <a:gd name="adj1" fmla="val -55847"/>
              <a:gd name="adj2" fmla="val 84359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Completing a test preparation course more than triples the chance for student success!</a:t>
            </a:r>
          </a:p>
        </p:txBody>
      </p:sp>
    </p:spTree>
    <p:extLst>
      <p:ext uri="{BB962C8B-B14F-4D97-AF65-F5344CB8AC3E}">
        <p14:creationId xmlns:p14="http://schemas.microsoft.com/office/powerpoint/2010/main" val="2982831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5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65A62F-3865-C959-4882-523322043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C30FD3-D2D4-B17B-FF12-2B592C65C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2B3F16-AC67-D97C-EEEE-32D3D99E4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DC4C32-C906-CD3C-ED71-3B52E5307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83C77D-0B23-5BFD-D153-8FC266E2B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6212D8-72F9-CF28-6872-17F77DDF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39368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Prep Course Completion by Parent’s Education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9A8CAE-3BA6-C379-CC79-8AC0D3FE8704}"/>
              </a:ext>
            </a:extLst>
          </p:cNvPr>
          <p:cNvSpPr/>
          <p:nvPr/>
        </p:nvSpPr>
        <p:spPr>
          <a:xfrm rot="5400000">
            <a:off x="4694220" y="-1752945"/>
            <a:ext cx="1218602" cy="816864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7097483B-3E30-5ECA-9E54-88D583955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597" y="1575460"/>
            <a:ext cx="7772400" cy="511752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A3AC20-891C-5761-AC3E-1228BEDF465B}"/>
              </a:ext>
            </a:extLst>
          </p:cNvPr>
          <p:cNvSpPr/>
          <p:nvPr/>
        </p:nvSpPr>
        <p:spPr>
          <a:xfrm rot="10800000">
            <a:off x="1921567" y="2676318"/>
            <a:ext cx="361000" cy="3948325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14CF6-F47C-AAF9-3246-AB0ACC09F51C}"/>
              </a:ext>
            </a:extLst>
          </p:cNvPr>
          <p:cNvSpPr txBox="1"/>
          <p:nvPr/>
        </p:nvSpPr>
        <p:spPr>
          <a:xfrm>
            <a:off x="1944242" y="5406580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AFD4AB-392F-BA5F-121F-6D83A6B67C55}"/>
              </a:ext>
            </a:extLst>
          </p:cNvPr>
          <p:cNvSpPr txBox="1"/>
          <p:nvPr/>
        </p:nvSpPr>
        <p:spPr>
          <a:xfrm>
            <a:off x="1913767" y="4715164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1D8F63-BAE0-5790-E062-3554AF8057E9}"/>
              </a:ext>
            </a:extLst>
          </p:cNvPr>
          <p:cNvSpPr txBox="1"/>
          <p:nvPr/>
        </p:nvSpPr>
        <p:spPr>
          <a:xfrm>
            <a:off x="1944242" y="4014105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7B2DCA-BFAF-D6B4-09C4-287FC40EFBCE}"/>
              </a:ext>
            </a:extLst>
          </p:cNvPr>
          <p:cNvSpPr txBox="1"/>
          <p:nvPr/>
        </p:nvSpPr>
        <p:spPr>
          <a:xfrm>
            <a:off x="1944242" y="3344066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30%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5D8B16-1388-5557-2B68-19C2AD14B106}"/>
              </a:ext>
            </a:extLst>
          </p:cNvPr>
          <p:cNvSpPr/>
          <p:nvPr/>
        </p:nvSpPr>
        <p:spPr>
          <a:xfrm rot="5400000">
            <a:off x="5148498" y="-1394239"/>
            <a:ext cx="1315884" cy="746760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350E3-A139-3534-E54B-069C51EA3118}"/>
              </a:ext>
            </a:extLst>
          </p:cNvPr>
          <p:cNvSpPr/>
          <p:nvPr/>
        </p:nvSpPr>
        <p:spPr>
          <a:xfrm rot="5400000">
            <a:off x="5690207" y="-474085"/>
            <a:ext cx="261610" cy="746760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59EEDC-977A-60AB-28AA-E9A674A866FC}"/>
              </a:ext>
            </a:extLst>
          </p:cNvPr>
          <p:cNvSpPr/>
          <p:nvPr/>
        </p:nvSpPr>
        <p:spPr>
          <a:xfrm rot="5400000" flipH="1">
            <a:off x="3356106" y="1796036"/>
            <a:ext cx="261610" cy="192024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71332B-F71F-7877-A746-D09AAE12EBAE}"/>
              </a:ext>
            </a:extLst>
          </p:cNvPr>
          <p:cNvSpPr/>
          <p:nvPr/>
        </p:nvSpPr>
        <p:spPr>
          <a:xfrm rot="5400000">
            <a:off x="5325452" y="1815817"/>
            <a:ext cx="705948" cy="192024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3646A0-7BC6-1DA9-0C46-EA022C3BBAA8}"/>
              </a:ext>
            </a:extLst>
          </p:cNvPr>
          <p:cNvSpPr/>
          <p:nvPr/>
        </p:nvSpPr>
        <p:spPr>
          <a:xfrm rot="5400000" flipH="1">
            <a:off x="8331050" y="1788312"/>
            <a:ext cx="498142" cy="192024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B7121E-4656-A3A1-F003-87BE4C4DC332}"/>
              </a:ext>
            </a:extLst>
          </p:cNvPr>
          <p:cNvSpPr/>
          <p:nvPr/>
        </p:nvSpPr>
        <p:spPr>
          <a:xfrm rot="5400000" flipH="1">
            <a:off x="7281121" y="2240889"/>
            <a:ext cx="281511" cy="192024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2583C0-E8EB-E0CE-402A-077E3D3E8946}"/>
              </a:ext>
            </a:extLst>
          </p:cNvPr>
          <p:cNvSpPr txBox="1"/>
          <p:nvPr/>
        </p:nvSpPr>
        <p:spPr>
          <a:xfrm>
            <a:off x="9994385" y="4613775"/>
            <a:ext cx="10424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Completed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370343-5BBB-B2CB-1B22-AFA0829A12B1}"/>
              </a:ext>
            </a:extLst>
          </p:cNvPr>
          <p:cNvSpPr txBox="1"/>
          <p:nvPr/>
        </p:nvSpPr>
        <p:spPr>
          <a:xfrm>
            <a:off x="10008100" y="5065267"/>
            <a:ext cx="15422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Did not complete</a:t>
            </a:r>
          </a:p>
        </p:txBody>
      </p:sp>
      <p:pic>
        <p:nvPicPr>
          <p:cNvPr id="36" name="Picture 35" descr="A blue square with a white background&#10;&#10;Description automatically generated">
            <a:extLst>
              <a:ext uri="{FF2B5EF4-FFF2-40B4-BE49-F238E27FC236}">
                <a16:creationId xmlns:a16="http://schemas.microsoft.com/office/drawing/2014/main" id="{1D64488D-017B-F77E-9620-7D08FB274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0241" y="4312780"/>
            <a:ext cx="533400" cy="863600"/>
          </a:xfrm>
          <a:prstGeom prst="rect">
            <a:avLst/>
          </a:prstGeom>
        </p:spPr>
      </p:pic>
      <p:pic>
        <p:nvPicPr>
          <p:cNvPr id="38" name="Picture 37" descr="A blue square with a white background&#10;&#10;Description automatically generated">
            <a:extLst>
              <a:ext uri="{FF2B5EF4-FFF2-40B4-BE49-F238E27FC236}">
                <a16:creationId xmlns:a16="http://schemas.microsoft.com/office/drawing/2014/main" id="{F3CDBA5A-0FBA-D1E2-E765-B1E1D224C4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337" t="25554"/>
          <a:stretch/>
        </p:blipFill>
        <p:spPr>
          <a:xfrm>
            <a:off x="9643557" y="4955697"/>
            <a:ext cx="430084" cy="64291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166B027-1633-EE23-6F00-6ED09C52DD5F}"/>
              </a:ext>
            </a:extLst>
          </p:cNvPr>
          <p:cNvSpPr txBox="1"/>
          <p:nvPr/>
        </p:nvSpPr>
        <p:spPr>
          <a:xfrm>
            <a:off x="2731008" y="2279904"/>
            <a:ext cx="576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 Course Completion by Parent’s Education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E0C30D-22D6-D137-2AAD-BA9423756A23}"/>
              </a:ext>
            </a:extLst>
          </p:cNvPr>
          <p:cNvSpPr/>
          <p:nvPr/>
        </p:nvSpPr>
        <p:spPr>
          <a:xfrm rot="10800000" flipH="1">
            <a:off x="1525321" y="3390521"/>
            <a:ext cx="261610" cy="2370759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41A754-FADE-5991-2FB6-E8F9332A24A5}"/>
              </a:ext>
            </a:extLst>
          </p:cNvPr>
          <p:cNvSpPr txBox="1"/>
          <p:nvPr/>
        </p:nvSpPr>
        <p:spPr>
          <a:xfrm rot="16200000">
            <a:off x="501918" y="4281512"/>
            <a:ext cx="2286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Predicted Student Success</a:t>
            </a:r>
          </a:p>
        </p:txBody>
      </p:sp>
      <p:sp>
        <p:nvSpPr>
          <p:cNvPr id="43" name="Oval Callout 42">
            <a:extLst>
              <a:ext uri="{FF2B5EF4-FFF2-40B4-BE49-F238E27FC236}">
                <a16:creationId xmlns:a16="http://schemas.microsoft.com/office/drawing/2014/main" id="{14DC575E-F3FA-4951-D192-B0A960DB4C06}"/>
              </a:ext>
            </a:extLst>
          </p:cNvPr>
          <p:cNvSpPr/>
          <p:nvPr/>
        </p:nvSpPr>
        <p:spPr>
          <a:xfrm>
            <a:off x="9143996" y="2137410"/>
            <a:ext cx="2537463" cy="1291590"/>
          </a:xfrm>
          <a:prstGeom prst="wedgeEllipseCallout">
            <a:avLst>
              <a:gd name="adj1" fmla="val -42682"/>
              <a:gd name="adj2" fmla="val 63385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 lower level of parental education reduces the likelihood of a student's success.</a:t>
            </a:r>
          </a:p>
        </p:txBody>
      </p:sp>
    </p:spTree>
    <p:extLst>
      <p:ext uri="{BB962C8B-B14F-4D97-AF65-F5344CB8AC3E}">
        <p14:creationId xmlns:p14="http://schemas.microsoft.com/office/powerpoint/2010/main" val="14223405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5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9C3527-84A0-3ACA-CDC7-778B7D64D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CD9620-8AD7-0FDB-D5C6-643CF1BB3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799E55-A712-9A03-7871-31676A891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445310-B02A-6227-6F8B-1CB9FC17F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5510DD-DC5D-47F4-D1B2-944EDEDC1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74940-84BD-340E-BDC4-81A6BFDF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39368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Parent’s Level of Education by Race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4E037C-EA38-5C01-A714-878CFF5D1C04}"/>
              </a:ext>
            </a:extLst>
          </p:cNvPr>
          <p:cNvSpPr/>
          <p:nvPr/>
        </p:nvSpPr>
        <p:spPr>
          <a:xfrm rot="5400000">
            <a:off x="4694220" y="-1752945"/>
            <a:ext cx="1218602" cy="816864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D87997-A226-35F1-C63D-540602CAB8CC}"/>
              </a:ext>
            </a:extLst>
          </p:cNvPr>
          <p:cNvSpPr/>
          <p:nvPr/>
        </p:nvSpPr>
        <p:spPr>
          <a:xfrm rot="10800000">
            <a:off x="1921567" y="2676318"/>
            <a:ext cx="361000" cy="3948325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7E6CD0-DE22-B72A-5538-18CD9C62BE96}"/>
              </a:ext>
            </a:extLst>
          </p:cNvPr>
          <p:cNvSpPr/>
          <p:nvPr/>
        </p:nvSpPr>
        <p:spPr>
          <a:xfrm rot="5400000">
            <a:off x="5148498" y="-1394239"/>
            <a:ext cx="1315884" cy="746760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0B50BFEA-1AFC-F2BD-3123-E7723D5D83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033"/>
          <a:stretch/>
        </p:blipFill>
        <p:spPr>
          <a:xfrm>
            <a:off x="1066800" y="2259588"/>
            <a:ext cx="8088085" cy="4195644"/>
          </a:xfrm>
          <a:prstGeom prst="rect">
            <a:avLst/>
          </a:prstGeom>
        </p:spPr>
      </p:pic>
      <p:pic>
        <p:nvPicPr>
          <p:cNvPr id="10" name="Picture 9" descr="A blue square on a white background&#10;&#10;Description automatically generated">
            <a:extLst>
              <a:ext uri="{FF2B5EF4-FFF2-40B4-BE49-F238E27FC236}">
                <a16:creationId xmlns:a16="http://schemas.microsoft.com/office/drawing/2014/main" id="{CE470BBF-38A8-03B5-D7FD-3CE16C7DE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6995" y="4992519"/>
            <a:ext cx="419100" cy="431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344E11-3947-E6A6-7832-A40702809C1B}"/>
              </a:ext>
            </a:extLst>
          </p:cNvPr>
          <p:cNvSpPr txBox="1"/>
          <p:nvPr/>
        </p:nvSpPr>
        <p:spPr>
          <a:xfrm>
            <a:off x="9769165" y="5096879"/>
            <a:ext cx="1435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Associate’s degree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5D9DB2-2380-F5CE-2B9B-325CD778F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5606" y="5384411"/>
            <a:ext cx="342900" cy="381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B8BC388-8147-67EF-8FB3-0ED75E118AE2}"/>
              </a:ext>
            </a:extLst>
          </p:cNvPr>
          <p:cNvSpPr txBox="1"/>
          <p:nvPr/>
        </p:nvSpPr>
        <p:spPr>
          <a:xfrm>
            <a:off x="9769165" y="5439291"/>
            <a:ext cx="1380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Bachelor’s degree</a:t>
            </a:r>
          </a:p>
        </p:txBody>
      </p:sp>
      <p:pic>
        <p:nvPicPr>
          <p:cNvPr id="32" name="Picture 31" descr="A blue square on a white background&#10;&#10;Description automatically generated">
            <a:extLst>
              <a:ext uri="{FF2B5EF4-FFF2-40B4-BE49-F238E27FC236}">
                <a16:creationId xmlns:a16="http://schemas.microsoft.com/office/drawing/2014/main" id="{4E4E605C-0465-EA0C-7E9C-4D38B2EAEB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5606" y="4341481"/>
            <a:ext cx="345643" cy="38404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9EEB1D7-800E-0087-D407-6EB2A81C9E10}"/>
              </a:ext>
            </a:extLst>
          </p:cNvPr>
          <p:cNvSpPr txBox="1"/>
          <p:nvPr/>
        </p:nvSpPr>
        <p:spPr>
          <a:xfrm>
            <a:off x="9772325" y="4396333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High School</a:t>
            </a:r>
          </a:p>
        </p:txBody>
      </p:sp>
      <p:pic>
        <p:nvPicPr>
          <p:cNvPr id="35" name="Picture 34" descr="A blue square with white background&#10;&#10;Description automatically generated">
            <a:extLst>
              <a:ext uri="{FF2B5EF4-FFF2-40B4-BE49-F238E27FC236}">
                <a16:creationId xmlns:a16="http://schemas.microsoft.com/office/drawing/2014/main" id="{750B3E9A-A5EB-4FF6-88EF-3361F5BB0F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5606" y="5738979"/>
            <a:ext cx="355600" cy="3175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32A7B1F-523B-C752-9363-B4EEF7C47322}"/>
              </a:ext>
            </a:extLst>
          </p:cNvPr>
          <p:cNvSpPr txBox="1"/>
          <p:nvPr/>
        </p:nvSpPr>
        <p:spPr>
          <a:xfrm>
            <a:off x="9785611" y="5772445"/>
            <a:ext cx="12427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Master’s degree</a:t>
            </a:r>
          </a:p>
        </p:txBody>
      </p:sp>
      <p:pic>
        <p:nvPicPr>
          <p:cNvPr id="41" name="Picture 40" descr="A blue square on a white background&#10;&#10;Description automatically generated">
            <a:extLst>
              <a:ext uri="{FF2B5EF4-FFF2-40B4-BE49-F238E27FC236}">
                <a16:creationId xmlns:a16="http://schemas.microsoft.com/office/drawing/2014/main" id="{84C11BE0-061C-28FA-5DA9-D9B492CA7F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3414" y="4680296"/>
            <a:ext cx="381000" cy="406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7341E25-4718-E52D-1A82-034A8C9B2F1A}"/>
              </a:ext>
            </a:extLst>
          </p:cNvPr>
          <p:cNvSpPr txBox="1"/>
          <p:nvPr/>
        </p:nvSpPr>
        <p:spPr>
          <a:xfrm>
            <a:off x="9769165" y="4749287"/>
            <a:ext cx="10843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Some college</a:t>
            </a:r>
          </a:p>
        </p:txBody>
      </p:sp>
      <p:pic>
        <p:nvPicPr>
          <p:cNvPr id="44" name="Picture 43" descr="A blue square on a white background&#10;&#10;Description automatically generated">
            <a:extLst>
              <a:ext uri="{FF2B5EF4-FFF2-40B4-BE49-F238E27FC236}">
                <a16:creationId xmlns:a16="http://schemas.microsoft.com/office/drawing/2014/main" id="{2C1C378A-2D19-21A2-E8BF-26CBC6F6B1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8713" y="3967287"/>
            <a:ext cx="368300" cy="4064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FE29331-C4D2-55BC-8ED1-1B942157E6EC}"/>
              </a:ext>
            </a:extLst>
          </p:cNvPr>
          <p:cNvSpPr txBox="1"/>
          <p:nvPr/>
        </p:nvSpPr>
        <p:spPr>
          <a:xfrm>
            <a:off x="9772325" y="4031987"/>
            <a:ext cx="1366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Some high school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587E09-2D9A-3F09-B8ED-12BF909FCC71}"/>
              </a:ext>
            </a:extLst>
          </p:cNvPr>
          <p:cNvSpPr/>
          <p:nvPr/>
        </p:nvSpPr>
        <p:spPr>
          <a:xfrm rot="5400000">
            <a:off x="4967901" y="-932867"/>
            <a:ext cx="1140647" cy="723332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D1CFF4A-F1D5-D780-4F77-883EA6C0648E}"/>
              </a:ext>
            </a:extLst>
          </p:cNvPr>
          <p:cNvSpPr/>
          <p:nvPr/>
        </p:nvSpPr>
        <p:spPr>
          <a:xfrm rot="10800000">
            <a:off x="1659455" y="2506907"/>
            <a:ext cx="361000" cy="3948325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1544C4-3294-A4CE-E174-A955BB0D1B8B}"/>
              </a:ext>
            </a:extLst>
          </p:cNvPr>
          <p:cNvSpPr txBox="1"/>
          <p:nvPr/>
        </p:nvSpPr>
        <p:spPr>
          <a:xfrm>
            <a:off x="1659453" y="5196656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0%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F3864D-CAB6-D3D6-9DFD-9FC7FBFB67DF}"/>
              </a:ext>
            </a:extLst>
          </p:cNvPr>
          <p:cNvSpPr txBox="1"/>
          <p:nvPr/>
        </p:nvSpPr>
        <p:spPr>
          <a:xfrm>
            <a:off x="1596771" y="4618482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10%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B09ABB-5EC7-F95C-062C-D540F542BCA4}"/>
              </a:ext>
            </a:extLst>
          </p:cNvPr>
          <p:cNvSpPr txBox="1"/>
          <p:nvPr/>
        </p:nvSpPr>
        <p:spPr>
          <a:xfrm>
            <a:off x="1596545" y="4047376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20%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1947C2-3054-39F2-6173-E23A5FE42A73}"/>
              </a:ext>
            </a:extLst>
          </p:cNvPr>
          <p:cNvSpPr txBox="1"/>
          <p:nvPr/>
        </p:nvSpPr>
        <p:spPr>
          <a:xfrm>
            <a:off x="1604902" y="3502149"/>
            <a:ext cx="475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30%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388B6B-4599-9C6E-919F-441BB0D641EE}"/>
              </a:ext>
            </a:extLst>
          </p:cNvPr>
          <p:cNvSpPr txBox="1"/>
          <p:nvPr/>
        </p:nvSpPr>
        <p:spPr>
          <a:xfrm>
            <a:off x="3796543" y="2329727"/>
            <a:ext cx="3320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Parent’s Education by Race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4410344-7BD0-D6CB-21A9-20FD0B7B1455}"/>
              </a:ext>
            </a:extLst>
          </p:cNvPr>
          <p:cNvSpPr/>
          <p:nvPr/>
        </p:nvSpPr>
        <p:spPr>
          <a:xfrm rot="10965192" flipH="1">
            <a:off x="1265803" y="3218059"/>
            <a:ext cx="261610" cy="192024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6B6192A-57F6-1858-FDA4-F7280DF4DC3E}"/>
              </a:ext>
            </a:extLst>
          </p:cNvPr>
          <p:cNvSpPr txBox="1"/>
          <p:nvPr/>
        </p:nvSpPr>
        <p:spPr>
          <a:xfrm rot="16200000">
            <a:off x="208674" y="4243230"/>
            <a:ext cx="2286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Predicted Student Success</a:t>
            </a:r>
          </a:p>
        </p:txBody>
      </p:sp>
    </p:spTree>
    <p:extLst>
      <p:ext uri="{BB962C8B-B14F-4D97-AF65-F5344CB8AC3E}">
        <p14:creationId xmlns:p14="http://schemas.microsoft.com/office/powerpoint/2010/main" val="858326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8E4CC-8515-B72C-7512-A7A1C77F2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AD8495F-A1F3-6338-2657-19139152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F957D8-2D5A-443E-CC97-FA7DE5017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2405BC-7C69-4EF0-89C8-D28543D89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051555-EBD3-BBCF-F297-2D538F01A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C7DBD2-3ED1-E1C5-D0E9-7C9522D1B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4475B4-78A6-7D56-E0DE-6DAB67236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AF71C25-367C-83D7-2101-78CC6E375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65632-6505-321E-F7E3-DF572F66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331" y="1030406"/>
            <a:ext cx="9406890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rgbClr val="FFFFFF"/>
                </a:solidFill>
              </a:rPr>
              <a:t>Are there certain combinations that lead to the higher or lower success</a:t>
            </a:r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60265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5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78DDC-9BE9-BC97-C3FB-256577A39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D178FC5-E63E-DF38-A3A2-CE98A6A2D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1BF392-05F6-F21D-9A1F-2EA560D2B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CE5DAF-AC4E-0B16-B381-23AF4C7E1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B398A6-AE07-FADE-E63C-2C8DB44AC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FF9BD-7102-3355-3D98-C3E880D63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39368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Factors that lead to High Success Predictions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836B40-383D-7DCA-D032-68DA3C1258F5}"/>
              </a:ext>
            </a:extLst>
          </p:cNvPr>
          <p:cNvSpPr/>
          <p:nvPr/>
        </p:nvSpPr>
        <p:spPr>
          <a:xfrm rot="5400000">
            <a:off x="4694220" y="-1752945"/>
            <a:ext cx="1218602" cy="816864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7DE049-AECF-D81B-D67A-35AA2165C7BB}"/>
              </a:ext>
            </a:extLst>
          </p:cNvPr>
          <p:cNvSpPr/>
          <p:nvPr/>
        </p:nvSpPr>
        <p:spPr>
          <a:xfrm rot="5400000">
            <a:off x="5148498" y="-1394239"/>
            <a:ext cx="1315884" cy="746760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with colorful bars&#10;&#10;Description automatically generated with medium confidence">
            <a:extLst>
              <a:ext uri="{FF2B5EF4-FFF2-40B4-BE49-F238E27FC236}">
                <a16:creationId xmlns:a16="http://schemas.microsoft.com/office/drawing/2014/main" id="{987E5E12-18BE-099E-2024-349813392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7" y="2051825"/>
            <a:ext cx="7772400" cy="48061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4CF7CE0-E2F5-42B1-4AED-F7BF991DDB87}"/>
              </a:ext>
            </a:extLst>
          </p:cNvPr>
          <p:cNvSpPr/>
          <p:nvPr/>
        </p:nvSpPr>
        <p:spPr>
          <a:xfrm rot="10800000">
            <a:off x="1748308" y="2329541"/>
            <a:ext cx="2742680" cy="3710285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3B2D0-07B6-A0B7-DF9D-F232A78F925B}"/>
              </a:ext>
            </a:extLst>
          </p:cNvPr>
          <p:cNvSpPr txBox="1"/>
          <p:nvPr/>
        </p:nvSpPr>
        <p:spPr>
          <a:xfrm>
            <a:off x="1382884" y="3464176"/>
            <a:ext cx="30508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Parent’s Level of Education </a:t>
            </a:r>
            <a:r>
              <a:rPr lang="en-US" sz="1100" dirty="0"/>
              <a:t>= Master’s Degree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217425-7996-EF68-64F7-8E9E123FE895}"/>
              </a:ext>
            </a:extLst>
          </p:cNvPr>
          <p:cNvSpPr txBox="1"/>
          <p:nvPr/>
        </p:nvSpPr>
        <p:spPr>
          <a:xfrm>
            <a:off x="3289633" y="3873099"/>
            <a:ext cx="11304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Race</a:t>
            </a:r>
            <a:r>
              <a:rPr lang="en-US" sz="1100" dirty="0"/>
              <a:t> = Group 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16334D-12C5-58B6-2188-0C1E15FAD20C}"/>
              </a:ext>
            </a:extLst>
          </p:cNvPr>
          <p:cNvSpPr txBox="1"/>
          <p:nvPr/>
        </p:nvSpPr>
        <p:spPr>
          <a:xfrm>
            <a:off x="1606334" y="4296735"/>
            <a:ext cx="28296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Prep Course Completion </a:t>
            </a:r>
            <a:r>
              <a:rPr lang="en-US" sz="1100" dirty="0"/>
              <a:t>= Not Completed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AEFFB3-9B57-5133-0F14-709C30CCE0C8}"/>
              </a:ext>
            </a:extLst>
          </p:cNvPr>
          <p:cNvSpPr txBox="1"/>
          <p:nvPr/>
        </p:nvSpPr>
        <p:spPr>
          <a:xfrm>
            <a:off x="2559230" y="4667053"/>
            <a:ext cx="18870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Free / Reduced Lunch </a:t>
            </a:r>
            <a:r>
              <a:rPr lang="en-US" sz="1100" dirty="0"/>
              <a:t>= No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83757F-050B-CE2B-2E17-6120119F4B2D}"/>
              </a:ext>
            </a:extLst>
          </p:cNvPr>
          <p:cNvSpPr txBox="1"/>
          <p:nvPr/>
        </p:nvSpPr>
        <p:spPr>
          <a:xfrm>
            <a:off x="3213448" y="5076139"/>
            <a:ext cx="12458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Gender</a:t>
            </a:r>
            <a:r>
              <a:rPr lang="en-US" sz="1100" dirty="0"/>
              <a:t> = Female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C753D0-27D5-CE5F-FEDE-3876036C9C49}"/>
              </a:ext>
            </a:extLst>
          </p:cNvPr>
          <p:cNvSpPr txBox="1"/>
          <p:nvPr/>
        </p:nvSpPr>
        <p:spPr>
          <a:xfrm>
            <a:off x="3650198" y="5492354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Prediction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954090-66DC-4B97-FDFC-86FA3F459761}"/>
              </a:ext>
            </a:extLst>
          </p:cNvPr>
          <p:cNvSpPr txBox="1"/>
          <p:nvPr/>
        </p:nvSpPr>
        <p:spPr>
          <a:xfrm>
            <a:off x="3705059" y="3090895"/>
            <a:ext cx="9039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Intercept</a:t>
            </a:r>
            <a:endParaRPr lang="en-US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959C9A-3D76-7167-9298-EBBB953B8BC7}"/>
              </a:ext>
            </a:extLst>
          </p:cNvPr>
          <p:cNvSpPr/>
          <p:nvPr/>
        </p:nvSpPr>
        <p:spPr>
          <a:xfrm>
            <a:off x="5615166" y="3059776"/>
            <a:ext cx="676777" cy="33388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D12A0"/>
                </a:solidFill>
              </a:rPr>
              <a:t>+7.5%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591773-7DC0-8E86-D6C9-59CDA11E406A}"/>
              </a:ext>
            </a:extLst>
          </p:cNvPr>
          <p:cNvSpPr/>
          <p:nvPr/>
        </p:nvSpPr>
        <p:spPr>
          <a:xfrm>
            <a:off x="6702804" y="3459916"/>
            <a:ext cx="786567" cy="33388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D12A0"/>
                </a:solidFill>
              </a:rPr>
              <a:t>+17.1%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4247C1-E5C8-7873-CA0E-71A1204AFE18}"/>
              </a:ext>
            </a:extLst>
          </p:cNvPr>
          <p:cNvSpPr/>
          <p:nvPr/>
        </p:nvSpPr>
        <p:spPr>
          <a:xfrm>
            <a:off x="7768230" y="3873099"/>
            <a:ext cx="798827" cy="33388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D12A0"/>
                </a:solidFill>
              </a:rPr>
              <a:t>+17.6%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1B9EC9-E571-AC80-5243-D7DDCC2EB87E}"/>
              </a:ext>
            </a:extLst>
          </p:cNvPr>
          <p:cNvSpPr/>
          <p:nvPr/>
        </p:nvSpPr>
        <p:spPr>
          <a:xfrm>
            <a:off x="7701014" y="4265059"/>
            <a:ext cx="798827" cy="33388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D12A0"/>
                </a:solidFill>
              </a:rPr>
              <a:t>-7.6%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975472-0708-E28E-6DCA-AE55371F37F6}"/>
              </a:ext>
            </a:extLst>
          </p:cNvPr>
          <p:cNvSpPr/>
          <p:nvPr/>
        </p:nvSpPr>
        <p:spPr>
          <a:xfrm>
            <a:off x="7793358" y="4667053"/>
            <a:ext cx="798827" cy="33388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D12A0"/>
                </a:solidFill>
              </a:rPr>
              <a:t>+8.6%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C82832-3466-AE7A-9D50-6D96959B1828}"/>
              </a:ext>
            </a:extLst>
          </p:cNvPr>
          <p:cNvSpPr/>
          <p:nvPr/>
        </p:nvSpPr>
        <p:spPr>
          <a:xfrm>
            <a:off x="7768224" y="5062688"/>
            <a:ext cx="798827" cy="33388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D12A0"/>
                </a:solidFill>
              </a:rPr>
              <a:t>-2.8%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CE68BD-10DA-1A77-2577-FD290C99AF71}"/>
              </a:ext>
            </a:extLst>
          </p:cNvPr>
          <p:cNvSpPr/>
          <p:nvPr/>
        </p:nvSpPr>
        <p:spPr>
          <a:xfrm>
            <a:off x="7684620" y="5461793"/>
            <a:ext cx="798827" cy="33388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D12A0"/>
                </a:solidFill>
              </a:rPr>
              <a:t>40.4%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654D02-D509-A2A5-E120-DAA8E5EB9BD4}"/>
              </a:ext>
            </a:extLst>
          </p:cNvPr>
          <p:cNvSpPr/>
          <p:nvPr/>
        </p:nvSpPr>
        <p:spPr>
          <a:xfrm>
            <a:off x="4867698" y="6039824"/>
            <a:ext cx="505035" cy="26161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0%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D7E7B1-CDBC-73BE-FCF2-21CC4946C596}"/>
              </a:ext>
            </a:extLst>
          </p:cNvPr>
          <p:cNvSpPr/>
          <p:nvPr/>
        </p:nvSpPr>
        <p:spPr>
          <a:xfrm>
            <a:off x="6124102" y="6039824"/>
            <a:ext cx="505035" cy="26161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20%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8A420AC-31E8-4D15-6150-8A87857039E5}"/>
              </a:ext>
            </a:extLst>
          </p:cNvPr>
          <p:cNvSpPr/>
          <p:nvPr/>
        </p:nvSpPr>
        <p:spPr>
          <a:xfrm>
            <a:off x="7288323" y="6039824"/>
            <a:ext cx="505035" cy="26161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40%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2CCB2B-20B0-F14F-6C64-090AD014E586}"/>
              </a:ext>
            </a:extLst>
          </p:cNvPr>
          <p:cNvSpPr/>
          <p:nvPr/>
        </p:nvSpPr>
        <p:spPr>
          <a:xfrm>
            <a:off x="8499841" y="6025933"/>
            <a:ext cx="505035" cy="26161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60%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0EC6E82-5F6B-180F-0417-C962C8AA2D84}"/>
              </a:ext>
            </a:extLst>
          </p:cNvPr>
          <p:cNvSpPr/>
          <p:nvPr/>
        </p:nvSpPr>
        <p:spPr>
          <a:xfrm rot="10800000">
            <a:off x="3443979" y="1707170"/>
            <a:ext cx="6076727" cy="1154855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54F746-0AA2-4E5C-FEBD-2C34449869F9}"/>
              </a:ext>
            </a:extLst>
          </p:cNvPr>
          <p:cNvSpPr txBox="1"/>
          <p:nvPr/>
        </p:nvSpPr>
        <p:spPr>
          <a:xfrm>
            <a:off x="4391875" y="2292383"/>
            <a:ext cx="6348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Breakdown of Factors that lead to High Success Predictions</a:t>
            </a:r>
          </a:p>
        </p:txBody>
      </p:sp>
      <p:sp>
        <p:nvSpPr>
          <p:cNvPr id="56" name="Oval Callout 55">
            <a:extLst>
              <a:ext uri="{FF2B5EF4-FFF2-40B4-BE49-F238E27FC236}">
                <a16:creationId xmlns:a16="http://schemas.microsoft.com/office/drawing/2014/main" id="{42C60F37-6E93-2CAE-4966-C478E91123A3}"/>
              </a:ext>
            </a:extLst>
          </p:cNvPr>
          <p:cNvSpPr/>
          <p:nvPr/>
        </p:nvSpPr>
        <p:spPr>
          <a:xfrm>
            <a:off x="9333292" y="2740777"/>
            <a:ext cx="2220802" cy="1063402"/>
          </a:xfrm>
          <a:prstGeom prst="wedgeEllipseCallout">
            <a:avLst>
              <a:gd name="adj1" fmla="val -62498"/>
              <a:gd name="adj2" fmla="val 6659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Race is the highest contributor here!</a:t>
            </a:r>
          </a:p>
        </p:txBody>
      </p:sp>
    </p:spTree>
    <p:extLst>
      <p:ext uri="{BB962C8B-B14F-4D97-AF65-F5344CB8AC3E}">
        <p14:creationId xmlns:p14="http://schemas.microsoft.com/office/powerpoint/2010/main" val="3229627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5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796AD-5D3D-3ECB-AD1D-2703FD9F5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6CA7F9-66E0-9802-E92C-99AF81909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87F442-8FAF-D15A-D342-A86385A36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7A4DBD-C45B-8F8E-AE76-A76F2FC67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7AA854-6D9F-7F01-A198-5FBBC74B1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9EDC51-116F-87F5-FA1E-D0810FBDB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39368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Factors that lead </a:t>
            </a:r>
            <a:r>
              <a:rPr lang="en-US" sz="4000">
                <a:solidFill>
                  <a:srgbClr val="FFFFFF"/>
                </a:solidFill>
              </a:rPr>
              <a:t>to Low </a:t>
            </a:r>
            <a:r>
              <a:rPr lang="en-US" sz="4000" dirty="0">
                <a:solidFill>
                  <a:srgbClr val="FFFFFF"/>
                </a:solidFill>
              </a:rPr>
              <a:t>Success Predictions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5C1B53-355E-A6FA-ECA9-7C336F75E057}"/>
              </a:ext>
            </a:extLst>
          </p:cNvPr>
          <p:cNvSpPr/>
          <p:nvPr/>
        </p:nvSpPr>
        <p:spPr>
          <a:xfrm rot="5400000">
            <a:off x="4694220" y="-1752945"/>
            <a:ext cx="1218602" cy="816864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27A8D8-66AD-F24A-CB84-75C6CA2AF1C5}"/>
              </a:ext>
            </a:extLst>
          </p:cNvPr>
          <p:cNvSpPr/>
          <p:nvPr/>
        </p:nvSpPr>
        <p:spPr>
          <a:xfrm rot="5400000">
            <a:off x="5148498" y="-1394239"/>
            <a:ext cx="1315884" cy="746760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with numbers and a bar chart&#10;&#10;Description automatically generated with medium confidence">
            <a:extLst>
              <a:ext uri="{FF2B5EF4-FFF2-40B4-BE49-F238E27FC236}">
                <a16:creationId xmlns:a16="http://schemas.microsoft.com/office/drawing/2014/main" id="{3E7B4670-8D63-B8D5-EB9B-EA8F44BBD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187" y="2093327"/>
            <a:ext cx="7772400" cy="4779579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2F29F9E0-D791-056E-6178-A24AD78F946A}"/>
              </a:ext>
            </a:extLst>
          </p:cNvPr>
          <p:cNvSpPr/>
          <p:nvPr/>
        </p:nvSpPr>
        <p:spPr>
          <a:xfrm rot="10800000">
            <a:off x="3443979" y="1739828"/>
            <a:ext cx="6076727" cy="1154855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C69915-C69E-C4BF-71D3-3F73E1F5ED87}"/>
              </a:ext>
            </a:extLst>
          </p:cNvPr>
          <p:cNvSpPr txBox="1"/>
          <p:nvPr/>
        </p:nvSpPr>
        <p:spPr>
          <a:xfrm>
            <a:off x="4391875" y="2074669"/>
            <a:ext cx="6348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Breakdown of Factors that lead to High Success Predictions</a:t>
            </a:r>
          </a:p>
        </p:txBody>
      </p:sp>
      <p:sp>
        <p:nvSpPr>
          <p:cNvPr id="56" name="Oval Callout 55">
            <a:extLst>
              <a:ext uri="{FF2B5EF4-FFF2-40B4-BE49-F238E27FC236}">
                <a16:creationId xmlns:a16="http://schemas.microsoft.com/office/drawing/2014/main" id="{7581FB9E-D131-F4A9-AECD-B4747618F997}"/>
              </a:ext>
            </a:extLst>
          </p:cNvPr>
          <p:cNvSpPr/>
          <p:nvPr/>
        </p:nvSpPr>
        <p:spPr>
          <a:xfrm>
            <a:off x="8946974" y="2458817"/>
            <a:ext cx="2220802" cy="1063402"/>
          </a:xfrm>
          <a:prstGeom prst="wedgeEllipseCallout">
            <a:avLst>
              <a:gd name="adj1" fmla="val -77693"/>
              <a:gd name="adj2" fmla="val 5942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Prep Course Completion is the highest contributor here!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CAB7E-D1F3-D6F8-D6CC-EC1980685BE2}"/>
              </a:ext>
            </a:extLst>
          </p:cNvPr>
          <p:cNvSpPr/>
          <p:nvPr/>
        </p:nvSpPr>
        <p:spPr>
          <a:xfrm rot="10800000">
            <a:off x="1748308" y="2329541"/>
            <a:ext cx="2742680" cy="3710285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968C5D-EC6B-1B1E-B24B-8F9CED84CAC5}"/>
              </a:ext>
            </a:extLst>
          </p:cNvPr>
          <p:cNvSpPr txBox="1"/>
          <p:nvPr/>
        </p:nvSpPr>
        <p:spPr>
          <a:xfrm>
            <a:off x="1546174" y="3464176"/>
            <a:ext cx="28584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Prep Course Completion  </a:t>
            </a:r>
            <a:r>
              <a:rPr lang="en-US" sz="1100" dirty="0"/>
              <a:t>= Not Completed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9AC5D0-70BD-451B-E79B-4526E01B0829}"/>
              </a:ext>
            </a:extLst>
          </p:cNvPr>
          <p:cNvSpPr txBox="1"/>
          <p:nvPr/>
        </p:nvSpPr>
        <p:spPr>
          <a:xfrm>
            <a:off x="2494973" y="3873099"/>
            <a:ext cx="19159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Free / Reduced Lunch </a:t>
            </a:r>
            <a:r>
              <a:rPr lang="en-US" sz="1100" dirty="0"/>
              <a:t> = No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58CDFB-68C8-68C4-233F-CCE37F60DB97}"/>
              </a:ext>
            </a:extLst>
          </p:cNvPr>
          <p:cNvSpPr txBox="1"/>
          <p:nvPr/>
        </p:nvSpPr>
        <p:spPr>
          <a:xfrm>
            <a:off x="2586048" y="4296735"/>
            <a:ext cx="18277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Race / Ethnicity </a:t>
            </a:r>
            <a:r>
              <a:rPr lang="en-US" sz="1100" dirty="0"/>
              <a:t>= Group 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DEC296-1866-937A-79C7-C0A3F3ABE93B}"/>
              </a:ext>
            </a:extLst>
          </p:cNvPr>
          <p:cNvSpPr txBox="1"/>
          <p:nvPr/>
        </p:nvSpPr>
        <p:spPr>
          <a:xfrm>
            <a:off x="3299462" y="4667053"/>
            <a:ext cx="10903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Gender </a:t>
            </a:r>
            <a:r>
              <a:rPr lang="en-US" sz="1100" dirty="0"/>
              <a:t>= Male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8BCE8F-5B97-0479-B399-AA6BC70C4632}"/>
              </a:ext>
            </a:extLst>
          </p:cNvPr>
          <p:cNvSpPr txBox="1"/>
          <p:nvPr/>
        </p:nvSpPr>
        <p:spPr>
          <a:xfrm>
            <a:off x="1547927" y="5076139"/>
            <a:ext cx="28841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Parent’s Level of Education</a:t>
            </a:r>
            <a:r>
              <a:rPr lang="en-US" sz="1100" dirty="0"/>
              <a:t> = Some college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BE5FAD-EFCD-A07F-4A17-8F343E0E1CF2}"/>
              </a:ext>
            </a:extLst>
          </p:cNvPr>
          <p:cNvSpPr txBox="1"/>
          <p:nvPr/>
        </p:nvSpPr>
        <p:spPr>
          <a:xfrm>
            <a:off x="3650198" y="5492354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Prediction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DFF583-FF1A-08A4-43EA-284A057FED92}"/>
              </a:ext>
            </a:extLst>
          </p:cNvPr>
          <p:cNvSpPr txBox="1"/>
          <p:nvPr/>
        </p:nvSpPr>
        <p:spPr>
          <a:xfrm>
            <a:off x="3705059" y="3090895"/>
            <a:ext cx="9039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Intercept</a:t>
            </a:r>
            <a:endParaRPr lang="en-US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362FE3-9F37-0099-A60D-0CB74E2C2FC3}"/>
              </a:ext>
            </a:extLst>
          </p:cNvPr>
          <p:cNvSpPr/>
          <p:nvPr/>
        </p:nvSpPr>
        <p:spPr>
          <a:xfrm>
            <a:off x="7171825" y="3059776"/>
            <a:ext cx="676777" cy="33388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D12A0"/>
                </a:solidFill>
              </a:rPr>
              <a:t>+7.5%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72432A-5CC2-1A7C-D219-69B2917EFB29}"/>
              </a:ext>
            </a:extLst>
          </p:cNvPr>
          <p:cNvSpPr/>
          <p:nvPr/>
        </p:nvSpPr>
        <p:spPr>
          <a:xfrm>
            <a:off x="7173060" y="3462009"/>
            <a:ext cx="786567" cy="33388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D12A0"/>
                </a:solidFill>
              </a:rPr>
              <a:t>-4.2%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F03375-4D8A-1D79-55B4-53DEA0716065}"/>
              </a:ext>
            </a:extLst>
          </p:cNvPr>
          <p:cNvSpPr/>
          <p:nvPr/>
        </p:nvSpPr>
        <p:spPr>
          <a:xfrm>
            <a:off x="6825420" y="3907232"/>
            <a:ext cx="798827" cy="33388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D12A0"/>
                </a:solidFill>
              </a:rPr>
              <a:t>+1.1%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87B34D-FFFF-BD6A-3247-9E3DCC743CF6}"/>
              </a:ext>
            </a:extLst>
          </p:cNvPr>
          <p:cNvSpPr/>
          <p:nvPr/>
        </p:nvSpPr>
        <p:spPr>
          <a:xfrm>
            <a:off x="6825420" y="4275658"/>
            <a:ext cx="798827" cy="33388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D12A0"/>
                </a:solidFill>
              </a:rPr>
              <a:t>-1.8%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3DEC3C-2AEC-5B5C-4E43-8C01CBA7B2C2}"/>
              </a:ext>
            </a:extLst>
          </p:cNvPr>
          <p:cNvSpPr/>
          <p:nvPr/>
        </p:nvSpPr>
        <p:spPr>
          <a:xfrm>
            <a:off x="6626342" y="4667053"/>
            <a:ext cx="798827" cy="33388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D12A0"/>
                </a:solidFill>
              </a:rPr>
              <a:t>-0.6%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6F4851-85B5-41C2-43CE-130834C6FC35}"/>
              </a:ext>
            </a:extLst>
          </p:cNvPr>
          <p:cNvSpPr/>
          <p:nvPr/>
        </p:nvSpPr>
        <p:spPr>
          <a:xfrm>
            <a:off x="6546666" y="5074494"/>
            <a:ext cx="798827" cy="33388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D12A0"/>
                </a:solidFill>
              </a:rPr>
              <a:t>-1.9%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E8DE63-FBD3-90D5-72FF-67AB5191BAC9}"/>
              </a:ext>
            </a:extLst>
          </p:cNvPr>
          <p:cNvSpPr/>
          <p:nvPr/>
        </p:nvSpPr>
        <p:spPr>
          <a:xfrm>
            <a:off x="7171825" y="5465441"/>
            <a:ext cx="798827" cy="33388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2D12A0"/>
                </a:solidFill>
              </a:rPr>
              <a:t>0%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EDC5942-7F8B-07B4-C92C-C4677AE40576}"/>
              </a:ext>
            </a:extLst>
          </p:cNvPr>
          <p:cNvSpPr/>
          <p:nvPr/>
        </p:nvSpPr>
        <p:spPr>
          <a:xfrm>
            <a:off x="4867698" y="6039824"/>
            <a:ext cx="505035" cy="26161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0%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F80DE3-7953-8598-6CA6-E028AA76F537}"/>
              </a:ext>
            </a:extLst>
          </p:cNvPr>
          <p:cNvSpPr/>
          <p:nvPr/>
        </p:nvSpPr>
        <p:spPr>
          <a:xfrm>
            <a:off x="6037014" y="6039824"/>
            <a:ext cx="505035" cy="26161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20%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EF49D9E-03DE-CB43-D163-29E370809939}"/>
              </a:ext>
            </a:extLst>
          </p:cNvPr>
          <p:cNvSpPr/>
          <p:nvPr/>
        </p:nvSpPr>
        <p:spPr>
          <a:xfrm>
            <a:off x="7212121" y="6039824"/>
            <a:ext cx="505035" cy="26161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40%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A2FE3D-F955-9509-4B01-AC708F2B74C7}"/>
              </a:ext>
            </a:extLst>
          </p:cNvPr>
          <p:cNvSpPr/>
          <p:nvPr/>
        </p:nvSpPr>
        <p:spPr>
          <a:xfrm>
            <a:off x="8336555" y="6025933"/>
            <a:ext cx="505035" cy="261612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60%</a:t>
            </a:r>
          </a:p>
        </p:txBody>
      </p:sp>
    </p:spTree>
    <p:extLst>
      <p:ext uri="{BB962C8B-B14F-4D97-AF65-F5344CB8AC3E}">
        <p14:creationId xmlns:p14="http://schemas.microsoft.com/office/powerpoint/2010/main" val="1892110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5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4EFED-E5FA-1A61-8C0D-3B274E295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C310590-7033-4F00-9BB4-6D7E3C6C9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D77F2A-5AFA-403B-3BE1-B849A840C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9013EB-9AE9-80F8-6F1F-D22587D60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BD3733-2AC3-C1FB-3B8A-CF4CC273A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D5FD6E-662E-46C2-3557-BE185C5D7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39368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Takeaways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E246417-0381-8A03-4CF7-57D06F8821F6}"/>
              </a:ext>
            </a:extLst>
          </p:cNvPr>
          <p:cNvSpPr/>
          <p:nvPr/>
        </p:nvSpPr>
        <p:spPr>
          <a:xfrm rot="10800000">
            <a:off x="3443979" y="1739828"/>
            <a:ext cx="6076727" cy="1154855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47B7A2-7145-2493-1DE6-C893E013B916}"/>
              </a:ext>
            </a:extLst>
          </p:cNvPr>
          <p:cNvSpPr txBox="1"/>
          <p:nvPr/>
        </p:nvSpPr>
        <p:spPr>
          <a:xfrm>
            <a:off x="1508760" y="2194560"/>
            <a:ext cx="96354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Lower levels of parental education leads to lower predictions of student success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Lack of prep course completion leads to lower predictions of student success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Certain combinations of attributes have the highest / lowest predicted success</a:t>
            </a:r>
          </a:p>
        </p:txBody>
      </p:sp>
    </p:spTree>
    <p:extLst>
      <p:ext uri="{BB962C8B-B14F-4D97-AF65-F5344CB8AC3E}">
        <p14:creationId xmlns:p14="http://schemas.microsoft.com/office/powerpoint/2010/main" val="1713211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760B4-9D58-88C1-279F-6C348AD7E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8044731-227E-F9BD-378B-5E84508D3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57FCA5-F3CA-D16E-CC1B-5369CD044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A04F8E-1106-55B9-D40D-62C72BA33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AC002C-C003-BB04-929F-DEC105F35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EA8C95-E305-CB55-E8C5-DEBF0DAC9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09B4C7-455A-E2AF-38AC-6FEE2CAD4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0D36742-E274-1B57-54E0-C63D127FC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4B3FE8-677C-C160-7BC8-77606261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can we do with all this information?</a:t>
            </a:r>
          </a:p>
        </p:txBody>
      </p:sp>
    </p:spTree>
    <p:extLst>
      <p:ext uri="{BB962C8B-B14F-4D97-AF65-F5344CB8AC3E}">
        <p14:creationId xmlns:p14="http://schemas.microsoft.com/office/powerpoint/2010/main" val="1128054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5E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A54508-A7AF-FF06-E506-BB47F8A85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CCAB82-CF43-F2AD-904B-48E30130A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BA2518-CCD1-5AEF-C105-022E6291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128C14-3C49-5E66-FD4C-683629D14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2D04EC-B5DB-FC60-0666-804AB7855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94C4D3-6910-10E1-4DDF-E33E1364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39368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Solutions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30C1F0-785F-96F4-3A7B-8B2101CC4136}"/>
              </a:ext>
            </a:extLst>
          </p:cNvPr>
          <p:cNvSpPr/>
          <p:nvPr/>
        </p:nvSpPr>
        <p:spPr>
          <a:xfrm rot="10800000">
            <a:off x="3443979" y="1739828"/>
            <a:ext cx="6076727" cy="1154855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3686C7-B561-BF02-3905-CC5B21F51D26}"/>
              </a:ext>
            </a:extLst>
          </p:cNvPr>
          <p:cNvSpPr txBox="1"/>
          <p:nvPr/>
        </p:nvSpPr>
        <p:spPr>
          <a:xfrm>
            <a:off x="1371597" y="2180901"/>
            <a:ext cx="1009269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Offer free test preparation course for students who qualify based on their parent’s level of education and socioeconomic status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Ensure supplemental support during test preparation course exists and is accessible (able to access via Zoom)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Tailor course to students based on their demographics schedule to ensure thorough completion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32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A4ABB7-3D22-4C5A-42C4-24AFDF468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5C35695-CC53-7DAA-E395-185799A6E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7BFECF-53C9-A0D7-DA52-D731CE269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9A3E43-111F-C5D6-E5DD-EC9D6B70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BA988D-290C-1B71-93A5-0E7A24430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B36B57-1514-FBFD-2FC7-89B2BF7E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D049AA-1382-B041-4D77-C0E984F7D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8CEC7F8-DAF3-E691-52AC-08D0B0433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8CAB35-3075-867D-012B-2FAE3103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435214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3116</TotalTime>
  <Words>784</Words>
  <Application>Microsoft Macintosh PowerPoint</Application>
  <PresentationFormat>Widescreen</PresentationFormat>
  <Paragraphs>156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SmartEd Solutions</vt:lpstr>
      <vt:lpstr>Our Services</vt:lpstr>
      <vt:lpstr>Why is this Our Mission?</vt:lpstr>
      <vt:lpstr>Top Drivers for Student Success</vt:lpstr>
      <vt:lpstr>Other Drivers for Student Success</vt:lpstr>
      <vt:lpstr>Where did this Data come from?</vt:lpstr>
      <vt:lpstr>How do we define Success?</vt:lpstr>
      <vt:lpstr>A Successful Student</vt:lpstr>
      <vt:lpstr>How were we able to predict a successful student?</vt:lpstr>
      <vt:lpstr>What is a Random Forest Model?</vt:lpstr>
      <vt:lpstr>Assessing Drivers of Student Success</vt:lpstr>
      <vt:lpstr>Assessing Parent’s Level of Education</vt:lpstr>
      <vt:lpstr>Assessing Test Prep Course Completion</vt:lpstr>
      <vt:lpstr>Prep Course Completion by Parent’s Education</vt:lpstr>
      <vt:lpstr>Parent’s Level of Education by Race</vt:lpstr>
      <vt:lpstr>Are there certain combinations that lead to the higher or lower success?</vt:lpstr>
      <vt:lpstr>Factors that lead to High Success Predictions</vt:lpstr>
      <vt:lpstr>Factors that lead to Low Success Predictions</vt:lpstr>
      <vt:lpstr>Takeaways</vt:lpstr>
      <vt:lpstr>What can we do with all this information?</vt:lpstr>
      <vt:lpstr>Solutions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Iqbal, Husna</dc:creator>
  <cp:lastModifiedBy>Iqbal, Husna</cp:lastModifiedBy>
  <cp:revision>2</cp:revision>
  <dcterms:created xsi:type="dcterms:W3CDTF">2024-11-16T18:14:39Z</dcterms:created>
  <dcterms:modified xsi:type="dcterms:W3CDTF">2024-11-25T22:10:09Z</dcterms:modified>
</cp:coreProperties>
</file>